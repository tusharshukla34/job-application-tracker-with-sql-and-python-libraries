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74" r:id="rId5"/>
    <p:sldId id="282" r:id="rId6"/>
    <p:sldId id="283" r:id="rId7"/>
    <p:sldId id="285" r:id="rId8"/>
    <p:sldId id="287" r:id="rId9"/>
    <p:sldId id="288" r:id="rId10"/>
    <p:sldId id="286" r:id="rId11"/>
    <p:sldId id="264" r:id="rId12"/>
    <p:sldId id="265" r:id="rId13"/>
    <p:sldId id="267" r:id="rId14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3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462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7B4BA-36A7-6C2C-64BE-279266DFA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ACAC9C-53C5-4B12-01D8-FC53DF2BEA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53F37F-B672-1D8A-747D-BCDEC9A33A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785B62-E0BB-68AA-EA59-DB12B9A583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875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50827-6346-7CB3-3A19-EE9D4662E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9D986B-D141-1DCF-D95D-C543C2C0C2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019338-2A5F-C5D4-B874-7AA52B238E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E6EAAC-EB23-11E4-BDB7-3F3CE64FE0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1667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067F8-4D0E-95D8-A0AE-81553836A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D78D8-935E-976A-B2C0-A3AAEB0C72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089434-0994-7276-4A4E-AB6CD5618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6BC73-98CB-D6AF-68DC-9C2E4B5F2C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7277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DD60C-6545-7F6C-64D0-A77F011F9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816F23-4FA5-E20F-42E9-973193D8B0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2FE667-76EA-8F84-CC01-3591F5EA54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1B679D-E32C-6D85-9AAC-0DB950892E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370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6A047-A684-EA17-0FD6-3FF08FA87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97E2BC-E210-9ECB-37B4-CFEE1F85B5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7B0BB3-DBEE-8864-4DEB-84AABA182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E4A0A5-5367-93C9-1495-E268ED451C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1237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86E40-D70C-4AAB-2E02-EE9A1B1B9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2B92EC-8DDF-4A96-B942-757D0A6688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B73A7C-A8A0-AE6F-FC5A-7799EBABF8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A1045-9094-3960-411E-1D6BA03398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3811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54446-FA58-A8D8-AC39-EFDAB622A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F185C6-02D1-C227-E89E-4079EB1344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644ACD-32FB-1C82-8A41-8508F10504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5CE65-337D-E749-A2F4-ECD52783F5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2314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E4C7B-0B00-F77D-A475-3F4D1D1E6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040537-11AD-74B2-B68C-E3BBFBD81C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CE469C-EDAB-BAA1-3AA2-36CE7356CE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904EE-A27E-263A-E62B-4A23F09C7B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891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94673"/>
            <a:ext cx="65179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ea typeface="Noto Serif Medium" pitchFamily="34" charset="-122"/>
                <a:cs typeface="Noto Serif Medium" pitchFamily="34" charset="-120"/>
              </a:rPr>
              <a:t>Job Application Tracker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243614"/>
            <a:ext cx="7556421" cy="2835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3A3A3A"/>
                </a:solidFill>
                <a:ea typeface="Noto Serif Medium" pitchFamily="34" charset="-122"/>
                <a:cs typeface="Noto Serif Medium" pitchFamily="34" charset="-120"/>
              </a:rPr>
              <a:t>SQL &amp; Python Project</a:t>
            </a:r>
            <a:endParaRPr lang="en-US" sz="8900" dirty="0"/>
          </a:p>
        </p:txBody>
      </p:sp>
      <p:sp>
        <p:nvSpPr>
          <p:cNvPr id="5" name="Text 2"/>
          <p:cNvSpPr/>
          <p:nvPr/>
        </p:nvSpPr>
        <p:spPr>
          <a:xfrm>
            <a:off x="6280190" y="5419130"/>
            <a:ext cx="75564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4C4C4C"/>
                </a:solidFill>
                <a:ea typeface="Noto Serif" pitchFamily="34" charset="-122"/>
                <a:cs typeface="Noto Serif" pitchFamily="34" charset="-120"/>
              </a:rPr>
              <a:t>Tracking and analyzing job applications using data visualization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80190" y="6581299"/>
            <a:ext cx="75564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4C4C4C"/>
                </a:solidFill>
                <a:ea typeface="Noto Serif" pitchFamily="34" charset="-122"/>
                <a:cs typeface="Noto Serif" pitchFamily="34" charset="-120"/>
              </a:rPr>
              <a:t>By Tushar Shukla</a:t>
            </a:r>
            <a:endParaRPr lang="en-US" sz="2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835C05-F463-151C-BA3F-36ACD01BD83F}"/>
              </a:ext>
            </a:extLst>
          </p:cNvPr>
          <p:cNvSpPr/>
          <p:nvPr/>
        </p:nvSpPr>
        <p:spPr>
          <a:xfrm>
            <a:off x="12565294" y="7551506"/>
            <a:ext cx="1982913" cy="575352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1906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ea typeface="Noto Serif Medium" pitchFamily="34" charset="-122"/>
                <a:cs typeface="Noto Serif Medium" pitchFamily="34" charset="-120"/>
              </a:rPr>
              <a:t>Project Objective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81469"/>
            <a:ext cx="4196358" cy="2746720"/>
          </a:xfrm>
          <a:prstGeom prst="roundRect">
            <a:avLst>
              <a:gd name="adj" fmla="val 4652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032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28224" y="34159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ea typeface="Noto Serif Medium" pitchFamily="34" charset="-122"/>
                <a:cs typeface="Noto Serif Medium" pitchFamily="34" charset="-120"/>
              </a:rPr>
              <a:t>Analyze &amp; Track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906322"/>
            <a:ext cx="3727490" cy="1826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/>
              <a:t>Using SQL and Python, I wanted to see patterns in the application process, like which companies receive the most applications or where rejections happen most often.</a:t>
            </a:r>
          </a:p>
        </p:txBody>
      </p:sp>
      <p:sp>
        <p:nvSpPr>
          <p:cNvPr id="6" name="Shape 4"/>
          <p:cNvSpPr/>
          <p:nvPr/>
        </p:nvSpPr>
        <p:spPr>
          <a:xfrm>
            <a:off x="5216962" y="3181468"/>
            <a:ext cx="4196358" cy="2746719"/>
          </a:xfrm>
          <a:prstGeom prst="roundRect">
            <a:avLst>
              <a:gd name="adj" fmla="val 4652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032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51396" y="3452693"/>
            <a:ext cx="3961924" cy="31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400" dirty="0"/>
              <a:t>Track job </a:t>
            </a:r>
            <a:r>
              <a:rPr lang="en-US" sz="2200" dirty="0"/>
              <a:t>applications</a:t>
            </a:r>
            <a:r>
              <a:rPr lang="en-US" sz="2400" dirty="0"/>
              <a:t> 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51396" y="3906322"/>
            <a:ext cx="3727490" cy="1826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/>
              <a:t>The goal was to build a simple system to record and organize all job applications — including company names, job roles, dates, and current status.</a:t>
            </a:r>
          </a:p>
        </p:txBody>
      </p:sp>
      <p:sp>
        <p:nvSpPr>
          <p:cNvPr id="9" name="Shape 7"/>
          <p:cNvSpPr/>
          <p:nvPr/>
        </p:nvSpPr>
        <p:spPr>
          <a:xfrm>
            <a:off x="9640133" y="3181469"/>
            <a:ext cx="4196358" cy="2746718"/>
          </a:xfrm>
          <a:prstGeom prst="roundRect">
            <a:avLst>
              <a:gd name="adj" fmla="val 4652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032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874568" y="34159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ea typeface="Noto Serif Medium" pitchFamily="34" charset="-122"/>
                <a:cs typeface="Noto Serif Medium" pitchFamily="34" charset="-120"/>
              </a:rPr>
              <a:t>Drive Insights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4568" y="3906322"/>
            <a:ext cx="3727490" cy="1826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000000"/>
                </a:solidFill>
                <a:ea typeface="Noto Serif" pitchFamily="34" charset="-122"/>
                <a:cs typeface="Noto Serif" pitchFamily="34" charset="-120"/>
              </a:rPr>
              <a:t>Visualize performance data to </a:t>
            </a:r>
            <a:r>
              <a:rPr lang="en-US" sz="1750" dirty="0"/>
              <a:t>understand personal progress, spot areas to improve, and make better choices in future applications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AB76F7-6445-E162-19B3-9E4B1616BCB4}"/>
              </a:ext>
            </a:extLst>
          </p:cNvPr>
          <p:cNvSpPr/>
          <p:nvPr/>
        </p:nvSpPr>
        <p:spPr>
          <a:xfrm>
            <a:off x="12709803" y="7530957"/>
            <a:ext cx="1848678" cy="595901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5589746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3A3A3A"/>
                </a:solidFill>
                <a:ea typeface="Noto Serif Medium" pitchFamily="34" charset="-122"/>
                <a:cs typeface="Noto Serif Medium" pitchFamily="34" charset="-120"/>
              </a:rPr>
              <a:t>Database Architecture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1638" y="1726644"/>
            <a:ext cx="2577584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A3A3A"/>
                </a:solidFill>
                <a:ea typeface="Noto Serif Medium" pitchFamily="34" charset="-122"/>
                <a:cs typeface="Noto Serif Medium" pitchFamily="34" charset="-120"/>
              </a:rPr>
              <a:t>Core Tables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21638" y="2254925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4C4C4C"/>
                </a:solidFill>
                <a:ea typeface="Noto Serif" pitchFamily="34" charset="-122"/>
                <a:cs typeface="Noto Serif" pitchFamily="34" charset="-120"/>
              </a:rPr>
              <a:t>applicants</a:t>
            </a:r>
            <a:r>
              <a:rPr lang="en-US" sz="1600" dirty="0">
                <a:solidFill>
                  <a:srgbClr val="4C4C4C"/>
                </a:solidFill>
                <a:ea typeface="Noto Serif" pitchFamily="34" charset="-122"/>
                <a:cs typeface="Noto Serif" pitchFamily="34" charset="-120"/>
              </a:rPr>
              <a:t> – Candidate profiles and details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1638" y="2656999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4C4C4C"/>
                </a:solidFill>
                <a:ea typeface="Noto Serif" pitchFamily="34" charset="-122"/>
                <a:cs typeface="Noto Serif" pitchFamily="34" charset="-120"/>
              </a:rPr>
              <a:t>applications</a:t>
            </a:r>
            <a:r>
              <a:rPr lang="en-US" sz="1600" dirty="0">
                <a:solidFill>
                  <a:srgbClr val="4C4C4C"/>
                </a:solidFill>
                <a:ea typeface="Noto Serif" pitchFamily="34" charset="-122"/>
                <a:cs typeface="Noto Serif" pitchFamily="34" charset="-120"/>
              </a:rPr>
              <a:t> – Job submissions with timestamps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1638" y="3059073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4C4C4C"/>
                </a:solidFill>
                <a:ea typeface="Noto Serif" pitchFamily="34" charset="-122"/>
                <a:cs typeface="Noto Serif" pitchFamily="34" charset="-120"/>
              </a:rPr>
              <a:t>interviews</a:t>
            </a:r>
            <a:r>
              <a:rPr lang="en-US" sz="1600" dirty="0">
                <a:solidFill>
                  <a:srgbClr val="4C4C4C"/>
                </a:solidFill>
                <a:ea typeface="Noto Serif" pitchFamily="34" charset="-122"/>
                <a:cs typeface="Noto Serif" pitchFamily="34" charset="-120"/>
              </a:rPr>
              <a:t> – Interview scheduling and outcomes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1638" y="3574494"/>
            <a:ext cx="6342102" cy="989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C4C4C"/>
                </a:solidFill>
                <a:ea typeface="Noto Serif" pitchFamily="34" charset="-122"/>
                <a:cs typeface="Noto Serif" pitchFamily="34" charset="-120"/>
              </a:rPr>
              <a:t>These three tables form the foundation of our data model, capturing the complete applicant journey from submission through interview.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0729" y="1752481"/>
            <a:ext cx="6342102" cy="63421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A0742D-56D5-392E-1D66-06FA7D001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9B63978-EBC5-6EC5-3C76-8474A7799DCA}"/>
              </a:ext>
            </a:extLst>
          </p:cNvPr>
          <p:cNvSpPr/>
          <p:nvPr/>
        </p:nvSpPr>
        <p:spPr>
          <a:xfrm>
            <a:off x="413147" y="324564"/>
            <a:ext cx="6275329" cy="288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3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SQL Query: Total number of applications by status</a:t>
            </a:r>
            <a:endParaRPr lang="en-US" sz="2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5BB46BE-3DBE-BB03-2959-57361631DDD5}"/>
              </a:ext>
            </a:extLst>
          </p:cNvPr>
          <p:cNvSpPr/>
          <p:nvPr/>
        </p:nvSpPr>
        <p:spPr>
          <a:xfrm>
            <a:off x="413147" y="911899"/>
            <a:ext cx="13804106" cy="932736"/>
          </a:xfrm>
          <a:prstGeom prst="roundRect">
            <a:avLst>
              <a:gd name="adj" fmla="val 5316"/>
            </a:avLst>
          </a:prstGeom>
          <a:solidFill>
            <a:srgbClr val="F0EE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442FB6A-CC88-86AD-4600-59072AA44B41}"/>
              </a:ext>
            </a:extLst>
          </p:cNvPr>
          <p:cNvSpPr/>
          <p:nvPr/>
        </p:nvSpPr>
        <p:spPr>
          <a:xfrm>
            <a:off x="525304" y="1098672"/>
            <a:ext cx="13579793" cy="755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50"/>
              </a:lnSpc>
            </a:pP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select status, count(*) as Count_of_status </a:t>
            </a:r>
          </a:p>
          <a:p>
            <a:pPr>
              <a:lnSpc>
                <a:spcPts val="1450"/>
              </a:lnSpc>
            </a:pP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from applications</a:t>
            </a:r>
          </a:p>
          <a:p>
            <a:pPr>
              <a:lnSpc>
                <a:spcPts val="1450"/>
              </a:lnSpc>
            </a:pP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group by status;</a:t>
            </a:r>
            <a:endParaRPr lang="en-US" sz="14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70FB5138-3F09-3460-4531-B478C9A23B96}"/>
              </a:ext>
            </a:extLst>
          </p:cNvPr>
          <p:cNvSpPr/>
          <p:nvPr/>
        </p:nvSpPr>
        <p:spPr>
          <a:xfrm>
            <a:off x="3132892" y="9928860"/>
            <a:ext cx="117991" cy="117991"/>
          </a:xfrm>
          <a:prstGeom prst="roundRect">
            <a:avLst>
              <a:gd name="adj" fmla="val 15499"/>
            </a:avLst>
          </a:prstGeom>
          <a:solidFill>
            <a:srgbClr val="2B27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D4C1E76-A4B6-AE4F-14FD-E9040AA75267}"/>
              </a:ext>
            </a:extLst>
          </p:cNvPr>
          <p:cNvSpPr/>
          <p:nvPr/>
        </p:nvSpPr>
        <p:spPr>
          <a:xfrm>
            <a:off x="3311843" y="9928860"/>
            <a:ext cx="438031" cy="118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Applied</a:t>
            </a:r>
            <a:endParaRPr lang="en-US" sz="9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77A9124E-232E-7233-BD53-B4C017F0475A}"/>
              </a:ext>
            </a:extLst>
          </p:cNvPr>
          <p:cNvSpPr/>
          <p:nvPr/>
        </p:nvSpPr>
        <p:spPr>
          <a:xfrm>
            <a:off x="5205889" y="9928860"/>
            <a:ext cx="117991" cy="117991"/>
          </a:xfrm>
          <a:prstGeom prst="roundRect">
            <a:avLst>
              <a:gd name="adj" fmla="val 15499"/>
            </a:avLst>
          </a:prstGeom>
          <a:solidFill>
            <a:srgbClr val="5D55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B2E4F86-89FA-3581-362C-10CB8AD5F8CD}"/>
              </a:ext>
            </a:extLst>
          </p:cNvPr>
          <p:cNvSpPr/>
          <p:nvPr/>
        </p:nvSpPr>
        <p:spPr>
          <a:xfrm>
            <a:off x="5384840" y="9928860"/>
            <a:ext cx="550545" cy="118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Interview</a:t>
            </a:r>
            <a:endParaRPr lang="en-US" sz="9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5514888E-83E3-5D86-6516-B8263CF8E23E}"/>
              </a:ext>
            </a:extLst>
          </p:cNvPr>
          <p:cNvSpPr/>
          <p:nvPr/>
        </p:nvSpPr>
        <p:spPr>
          <a:xfrm>
            <a:off x="8733115" y="9928860"/>
            <a:ext cx="117991" cy="117991"/>
          </a:xfrm>
          <a:prstGeom prst="roundRect">
            <a:avLst>
              <a:gd name="adj" fmla="val 15499"/>
            </a:avLst>
          </a:prstGeom>
          <a:solidFill>
            <a:srgbClr val="8F84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4CC51F2B-72D6-A688-1EC7-3EFB347F07A7}"/>
              </a:ext>
            </a:extLst>
          </p:cNvPr>
          <p:cNvSpPr/>
          <p:nvPr/>
        </p:nvSpPr>
        <p:spPr>
          <a:xfrm>
            <a:off x="8912066" y="9928860"/>
            <a:ext cx="474226" cy="118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Rejected</a:t>
            </a:r>
            <a:endParaRPr lang="en-US" sz="9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4B662325-85E1-E877-3953-609BE23037B5}"/>
              </a:ext>
            </a:extLst>
          </p:cNvPr>
          <p:cNvSpPr/>
          <p:nvPr/>
        </p:nvSpPr>
        <p:spPr>
          <a:xfrm>
            <a:off x="10880527" y="9928860"/>
            <a:ext cx="117991" cy="117991"/>
          </a:xfrm>
          <a:prstGeom prst="roundRect">
            <a:avLst>
              <a:gd name="adj" fmla="val 15499"/>
            </a:avLst>
          </a:prstGeom>
          <a:solidFill>
            <a:srgbClr val="B7B0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5F318AD4-C3E3-D1EA-1517-2536E1A45B06}"/>
              </a:ext>
            </a:extLst>
          </p:cNvPr>
          <p:cNvSpPr/>
          <p:nvPr/>
        </p:nvSpPr>
        <p:spPr>
          <a:xfrm>
            <a:off x="11059478" y="9928860"/>
            <a:ext cx="293370" cy="118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Offer</a:t>
            </a:r>
            <a:endParaRPr lang="en-US" sz="9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9CEAD9BE-9555-F292-9AAE-86DB5942D57A}"/>
              </a:ext>
            </a:extLst>
          </p:cNvPr>
          <p:cNvSpPr/>
          <p:nvPr/>
        </p:nvSpPr>
        <p:spPr>
          <a:xfrm>
            <a:off x="413147" y="10179725"/>
            <a:ext cx="13804106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Key Insight:</a:t>
            </a: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45 applications remain in progress, while 28 rejections indicate competitive screening processes requiring strategic focus.</a:t>
            </a:r>
            <a:endParaRPr lang="en-US" sz="90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FEC20CFD-87DB-A2F3-E866-4353CEA5B9BE}"/>
              </a:ext>
            </a:extLst>
          </p:cNvPr>
          <p:cNvSpPr/>
          <p:nvPr/>
        </p:nvSpPr>
        <p:spPr>
          <a:xfrm>
            <a:off x="668042" y="752765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b="1" dirty="0">
                <a:solidFill>
                  <a:srgbClr val="4C4C4C"/>
                </a:solidFill>
                <a:ea typeface="Noto Serif" pitchFamily="34" charset="-122"/>
                <a:cs typeface="Noto Serif" pitchFamily="34" charset="-120"/>
              </a:rPr>
              <a:t>Key Finding : </a:t>
            </a:r>
            <a:r>
              <a:rPr lang="en-US" sz="1750" dirty="0"/>
              <a:t>Most applications are still in progress, mainly in “Applied” or “Interview” stages.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C308CB-C542-5949-C2A4-28DA4F158BC3}"/>
              </a:ext>
            </a:extLst>
          </p:cNvPr>
          <p:cNvSpPr/>
          <p:nvPr/>
        </p:nvSpPr>
        <p:spPr>
          <a:xfrm>
            <a:off x="12791326" y="7633699"/>
            <a:ext cx="1839074" cy="513708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40E8287-CE25-0FE5-E9A2-AE0204054C5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23030" y="1898493"/>
            <a:ext cx="8075488" cy="5599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924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A09E3-A0CB-91BB-431F-76134FE96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36C48B3-E165-4AC0-5C7A-65B6D41E55B4}"/>
              </a:ext>
            </a:extLst>
          </p:cNvPr>
          <p:cNvSpPr/>
          <p:nvPr/>
        </p:nvSpPr>
        <p:spPr>
          <a:xfrm>
            <a:off x="413147" y="324564"/>
            <a:ext cx="6275329" cy="288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3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SQL Query: Applications per month </a:t>
            </a:r>
            <a:endParaRPr lang="en-US" sz="2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1F1E0DB-3560-B3D9-4E9A-B497E012D305}"/>
              </a:ext>
            </a:extLst>
          </p:cNvPr>
          <p:cNvSpPr/>
          <p:nvPr/>
        </p:nvSpPr>
        <p:spPr>
          <a:xfrm>
            <a:off x="413147" y="911899"/>
            <a:ext cx="13804106" cy="932736"/>
          </a:xfrm>
          <a:prstGeom prst="roundRect">
            <a:avLst>
              <a:gd name="adj" fmla="val 5316"/>
            </a:avLst>
          </a:prstGeom>
          <a:solidFill>
            <a:srgbClr val="F0EE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A420327-122A-CD32-48D7-00BCC42BC067}"/>
              </a:ext>
            </a:extLst>
          </p:cNvPr>
          <p:cNvSpPr/>
          <p:nvPr/>
        </p:nvSpPr>
        <p:spPr>
          <a:xfrm>
            <a:off x="413147" y="1042588"/>
            <a:ext cx="13579793" cy="755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50"/>
              </a:lnSpc>
            </a:pP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select date_format(date_applied , '%Y-%M') as month, count(</a:t>
            </a:r>
            <a:r>
              <a:rPr lang="en-US" sz="1400" dirty="0" err="1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app_id</a:t>
            </a: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as </a:t>
            </a:r>
            <a:r>
              <a:rPr lang="en-US" sz="1400" dirty="0" err="1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Total_application_per_month</a:t>
            </a:r>
            <a:endParaRPr lang="en-US" sz="1400" dirty="0">
              <a:solidFill>
                <a:srgbClr val="4C4C4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ts val="1450"/>
              </a:lnSpc>
            </a:pP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from applications</a:t>
            </a:r>
          </a:p>
          <a:p>
            <a:pPr>
              <a:lnSpc>
                <a:spcPts val="1450"/>
              </a:lnSpc>
            </a:pP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group by month</a:t>
            </a:r>
          </a:p>
          <a:p>
            <a:pPr>
              <a:lnSpc>
                <a:spcPts val="1450"/>
              </a:lnSpc>
            </a:pP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order by min(date_applied);</a:t>
            </a:r>
            <a:endParaRPr lang="en-US" sz="14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5A006234-DD4D-A01F-C779-398B600F1AAD}"/>
              </a:ext>
            </a:extLst>
          </p:cNvPr>
          <p:cNvSpPr/>
          <p:nvPr/>
        </p:nvSpPr>
        <p:spPr>
          <a:xfrm>
            <a:off x="3132892" y="9928860"/>
            <a:ext cx="117991" cy="117991"/>
          </a:xfrm>
          <a:prstGeom prst="roundRect">
            <a:avLst>
              <a:gd name="adj" fmla="val 15499"/>
            </a:avLst>
          </a:prstGeom>
          <a:solidFill>
            <a:srgbClr val="2B27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400339E-605F-CDF9-54CC-976DB6486F48}"/>
              </a:ext>
            </a:extLst>
          </p:cNvPr>
          <p:cNvSpPr/>
          <p:nvPr/>
        </p:nvSpPr>
        <p:spPr>
          <a:xfrm>
            <a:off x="3311843" y="9928860"/>
            <a:ext cx="438031" cy="118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Applied</a:t>
            </a:r>
            <a:endParaRPr lang="en-US" sz="9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561885D6-6EB6-07B5-8202-10D51AC11863}"/>
              </a:ext>
            </a:extLst>
          </p:cNvPr>
          <p:cNvSpPr/>
          <p:nvPr/>
        </p:nvSpPr>
        <p:spPr>
          <a:xfrm>
            <a:off x="5205889" y="9928860"/>
            <a:ext cx="117991" cy="117991"/>
          </a:xfrm>
          <a:prstGeom prst="roundRect">
            <a:avLst>
              <a:gd name="adj" fmla="val 15499"/>
            </a:avLst>
          </a:prstGeom>
          <a:solidFill>
            <a:srgbClr val="5D55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A009B29-5F49-55E8-1071-46074285E7CA}"/>
              </a:ext>
            </a:extLst>
          </p:cNvPr>
          <p:cNvSpPr/>
          <p:nvPr/>
        </p:nvSpPr>
        <p:spPr>
          <a:xfrm>
            <a:off x="5384840" y="9928860"/>
            <a:ext cx="550545" cy="118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Interview</a:t>
            </a:r>
            <a:endParaRPr lang="en-US" sz="9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D89CACA1-C878-7546-D5A4-E999805EED24}"/>
              </a:ext>
            </a:extLst>
          </p:cNvPr>
          <p:cNvSpPr/>
          <p:nvPr/>
        </p:nvSpPr>
        <p:spPr>
          <a:xfrm>
            <a:off x="8733115" y="9928860"/>
            <a:ext cx="117991" cy="117991"/>
          </a:xfrm>
          <a:prstGeom prst="roundRect">
            <a:avLst>
              <a:gd name="adj" fmla="val 15499"/>
            </a:avLst>
          </a:prstGeom>
          <a:solidFill>
            <a:srgbClr val="8F84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6DC4B405-2A96-CE9C-F40D-B89B586BD891}"/>
              </a:ext>
            </a:extLst>
          </p:cNvPr>
          <p:cNvSpPr/>
          <p:nvPr/>
        </p:nvSpPr>
        <p:spPr>
          <a:xfrm>
            <a:off x="8912066" y="9928860"/>
            <a:ext cx="474226" cy="118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Rejected</a:t>
            </a:r>
            <a:endParaRPr lang="en-US" sz="9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57983B65-E3C3-C5F0-7380-9F08D7D9D35E}"/>
              </a:ext>
            </a:extLst>
          </p:cNvPr>
          <p:cNvSpPr/>
          <p:nvPr/>
        </p:nvSpPr>
        <p:spPr>
          <a:xfrm>
            <a:off x="10880527" y="9928860"/>
            <a:ext cx="117991" cy="117991"/>
          </a:xfrm>
          <a:prstGeom prst="roundRect">
            <a:avLst>
              <a:gd name="adj" fmla="val 15499"/>
            </a:avLst>
          </a:prstGeom>
          <a:solidFill>
            <a:srgbClr val="B7B0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DB51B865-5251-3667-83FA-13C7DA1302D7}"/>
              </a:ext>
            </a:extLst>
          </p:cNvPr>
          <p:cNvSpPr/>
          <p:nvPr/>
        </p:nvSpPr>
        <p:spPr>
          <a:xfrm>
            <a:off x="11059478" y="9928860"/>
            <a:ext cx="293370" cy="118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Offer</a:t>
            </a:r>
            <a:endParaRPr lang="en-US" sz="9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CA18FCE9-32BF-15D4-2D29-A065AFEC8547}"/>
              </a:ext>
            </a:extLst>
          </p:cNvPr>
          <p:cNvSpPr/>
          <p:nvPr/>
        </p:nvSpPr>
        <p:spPr>
          <a:xfrm>
            <a:off x="413147" y="10179725"/>
            <a:ext cx="13804106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Key Insight:</a:t>
            </a: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45 applications remain in progress, while 28 rejections indicate competitive screening processes requiring strategic focus.</a:t>
            </a:r>
            <a:endParaRPr lang="en-US" sz="90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E8CC3CF6-5B39-E8A9-4BDC-C4D286B230D4}"/>
              </a:ext>
            </a:extLst>
          </p:cNvPr>
          <p:cNvSpPr/>
          <p:nvPr/>
        </p:nvSpPr>
        <p:spPr>
          <a:xfrm>
            <a:off x="668042" y="758746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b="1" dirty="0">
                <a:solidFill>
                  <a:srgbClr val="4C4C4C"/>
                </a:solidFill>
                <a:ea typeface="Noto Serif" pitchFamily="34" charset="-122"/>
                <a:cs typeface="Noto Serif" pitchFamily="34" charset="-120"/>
              </a:rPr>
              <a:t>Key Finding :</a:t>
            </a:r>
            <a:r>
              <a:rPr lang="en-US" sz="1750" dirty="0">
                <a:solidFill>
                  <a:srgbClr val="4C4C4C"/>
                </a:solidFill>
                <a:ea typeface="Noto Serif" pitchFamily="34" charset="-122"/>
                <a:cs typeface="Noto Serif" pitchFamily="34" charset="-120"/>
              </a:rPr>
              <a:t> </a:t>
            </a:r>
            <a:r>
              <a:rPr lang="en-US" sz="1750" dirty="0"/>
              <a:t>Applications peaked in September and October, aligning with major hiring periods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24BA01-D818-EAD5-4453-50E384716EAE}"/>
              </a:ext>
            </a:extLst>
          </p:cNvPr>
          <p:cNvSpPr/>
          <p:nvPr/>
        </p:nvSpPr>
        <p:spPr>
          <a:xfrm>
            <a:off x="12791326" y="7633699"/>
            <a:ext cx="1839074" cy="513708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513F0D3-251A-8F33-9776-73BD1FF7362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20978" y="2065158"/>
            <a:ext cx="9431870" cy="524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679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48572-FF00-11F5-E1FE-49AFC4970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6C1EB76-E1BD-8F9B-5910-A46B316B3997}"/>
              </a:ext>
            </a:extLst>
          </p:cNvPr>
          <p:cNvSpPr/>
          <p:nvPr/>
        </p:nvSpPr>
        <p:spPr>
          <a:xfrm>
            <a:off x="413147" y="324564"/>
            <a:ext cx="6275329" cy="288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3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SQL Query: Top 5 companies with the highest number of applications</a:t>
            </a:r>
            <a:endParaRPr lang="en-US" sz="2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B9DF9E1-A9D3-972B-4092-7CFBC0828D3D}"/>
              </a:ext>
            </a:extLst>
          </p:cNvPr>
          <p:cNvSpPr/>
          <p:nvPr/>
        </p:nvSpPr>
        <p:spPr>
          <a:xfrm>
            <a:off x="413147" y="911899"/>
            <a:ext cx="13804106" cy="932736"/>
          </a:xfrm>
          <a:prstGeom prst="roundRect">
            <a:avLst>
              <a:gd name="adj" fmla="val 5316"/>
            </a:avLst>
          </a:prstGeom>
          <a:solidFill>
            <a:srgbClr val="F0EE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1169F7D-C7E6-0687-A186-107B523FD34F}"/>
              </a:ext>
            </a:extLst>
          </p:cNvPr>
          <p:cNvSpPr/>
          <p:nvPr/>
        </p:nvSpPr>
        <p:spPr>
          <a:xfrm>
            <a:off x="413147" y="1042588"/>
            <a:ext cx="13579793" cy="755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50"/>
              </a:lnSpc>
            </a:pP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select </a:t>
            </a:r>
            <a:r>
              <a:rPr lang="en-US" sz="1400" dirty="0" err="1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company_name</a:t>
            </a: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count(app_id) as </a:t>
            </a:r>
            <a:r>
              <a:rPr lang="en-US" sz="1400" dirty="0" err="1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Number_of_application</a:t>
            </a: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</a:p>
          <a:p>
            <a:pPr>
              <a:lnSpc>
                <a:spcPts val="1450"/>
              </a:lnSpc>
            </a:pP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from applications            </a:t>
            </a:r>
          </a:p>
          <a:p>
            <a:pPr>
              <a:lnSpc>
                <a:spcPts val="1450"/>
              </a:lnSpc>
            </a:pP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group by </a:t>
            </a:r>
            <a:r>
              <a:rPr lang="en-US" sz="1400" dirty="0" err="1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company_name</a:t>
            </a: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</a:p>
          <a:p>
            <a:pPr>
              <a:lnSpc>
                <a:spcPts val="1450"/>
              </a:lnSpc>
            </a:pP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order by </a:t>
            </a:r>
            <a:r>
              <a:rPr lang="en-US" sz="1400" dirty="0" err="1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Number_of_application</a:t>
            </a: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desc limit 5 ;</a:t>
            </a:r>
            <a:endParaRPr lang="en-US" sz="14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39D9DF4D-F035-FF6E-EF7C-CB89F723CD25}"/>
              </a:ext>
            </a:extLst>
          </p:cNvPr>
          <p:cNvSpPr/>
          <p:nvPr/>
        </p:nvSpPr>
        <p:spPr>
          <a:xfrm>
            <a:off x="3132892" y="9928860"/>
            <a:ext cx="117991" cy="117991"/>
          </a:xfrm>
          <a:prstGeom prst="roundRect">
            <a:avLst>
              <a:gd name="adj" fmla="val 15499"/>
            </a:avLst>
          </a:prstGeom>
          <a:solidFill>
            <a:srgbClr val="2B27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0E29164-A718-49CB-1E4E-875DFEFF1433}"/>
              </a:ext>
            </a:extLst>
          </p:cNvPr>
          <p:cNvSpPr/>
          <p:nvPr/>
        </p:nvSpPr>
        <p:spPr>
          <a:xfrm>
            <a:off x="3311843" y="9928860"/>
            <a:ext cx="438031" cy="118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Applied</a:t>
            </a:r>
            <a:endParaRPr lang="en-US" sz="9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F2AAEFC6-F7A5-E253-A8ED-B377D7A2BD2E}"/>
              </a:ext>
            </a:extLst>
          </p:cNvPr>
          <p:cNvSpPr/>
          <p:nvPr/>
        </p:nvSpPr>
        <p:spPr>
          <a:xfrm>
            <a:off x="5205889" y="9928860"/>
            <a:ext cx="117991" cy="117991"/>
          </a:xfrm>
          <a:prstGeom prst="roundRect">
            <a:avLst>
              <a:gd name="adj" fmla="val 15499"/>
            </a:avLst>
          </a:prstGeom>
          <a:solidFill>
            <a:srgbClr val="5D55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392E5F5-9508-6513-E843-D0D9FD051CB2}"/>
              </a:ext>
            </a:extLst>
          </p:cNvPr>
          <p:cNvSpPr/>
          <p:nvPr/>
        </p:nvSpPr>
        <p:spPr>
          <a:xfrm>
            <a:off x="5384840" y="9928860"/>
            <a:ext cx="550545" cy="118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Interview</a:t>
            </a:r>
            <a:endParaRPr lang="en-US" sz="9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8E2AA303-C006-B06B-8192-64A3199B8B7C}"/>
              </a:ext>
            </a:extLst>
          </p:cNvPr>
          <p:cNvSpPr/>
          <p:nvPr/>
        </p:nvSpPr>
        <p:spPr>
          <a:xfrm>
            <a:off x="8733115" y="9928860"/>
            <a:ext cx="117991" cy="117991"/>
          </a:xfrm>
          <a:prstGeom prst="roundRect">
            <a:avLst>
              <a:gd name="adj" fmla="val 15499"/>
            </a:avLst>
          </a:prstGeom>
          <a:solidFill>
            <a:srgbClr val="8F84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80CA4D6-DD6F-BF09-0CCA-58E6FF8EDE5F}"/>
              </a:ext>
            </a:extLst>
          </p:cNvPr>
          <p:cNvSpPr/>
          <p:nvPr/>
        </p:nvSpPr>
        <p:spPr>
          <a:xfrm>
            <a:off x="8912066" y="9928860"/>
            <a:ext cx="474226" cy="118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Rejected</a:t>
            </a:r>
            <a:endParaRPr lang="en-US" sz="9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55FC0BE8-5A1C-9E0D-F2A1-64493BBE16F7}"/>
              </a:ext>
            </a:extLst>
          </p:cNvPr>
          <p:cNvSpPr/>
          <p:nvPr/>
        </p:nvSpPr>
        <p:spPr>
          <a:xfrm>
            <a:off x="10880527" y="9928860"/>
            <a:ext cx="117991" cy="117991"/>
          </a:xfrm>
          <a:prstGeom prst="roundRect">
            <a:avLst>
              <a:gd name="adj" fmla="val 15499"/>
            </a:avLst>
          </a:prstGeom>
          <a:solidFill>
            <a:srgbClr val="B7B0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20B1BBB3-14B5-3496-8CBE-C6784B4B1575}"/>
              </a:ext>
            </a:extLst>
          </p:cNvPr>
          <p:cNvSpPr/>
          <p:nvPr/>
        </p:nvSpPr>
        <p:spPr>
          <a:xfrm>
            <a:off x="11059478" y="9928860"/>
            <a:ext cx="293370" cy="118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Offer</a:t>
            </a:r>
            <a:endParaRPr lang="en-US" sz="9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ECCA5BF6-2256-4D7B-1C56-04032DC64385}"/>
              </a:ext>
            </a:extLst>
          </p:cNvPr>
          <p:cNvSpPr/>
          <p:nvPr/>
        </p:nvSpPr>
        <p:spPr>
          <a:xfrm>
            <a:off x="413147" y="10179725"/>
            <a:ext cx="13804106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Key Insight:</a:t>
            </a: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45 applications remain in progress, while 28 rejections indicate competitive screening processes requiring strategic focus.</a:t>
            </a:r>
            <a:endParaRPr lang="en-US" sz="90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27497A39-76A3-27C2-1307-CC9122514D86}"/>
              </a:ext>
            </a:extLst>
          </p:cNvPr>
          <p:cNvSpPr/>
          <p:nvPr/>
        </p:nvSpPr>
        <p:spPr>
          <a:xfrm>
            <a:off x="668042" y="758746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b="1" dirty="0">
                <a:solidFill>
                  <a:srgbClr val="4C4C4C"/>
                </a:solidFill>
                <a:ea typeface="Noto Serif" pitchFamily="34" charset="-122"/>
                <a:cs typeface="Noto Serif" pitchFamily="34" charset="-120"/>
              </a:rPr>
              <a:t>Key Finding : </a:t>
            </a:r>
            <a:r>
              <a:rPr lang="en-US" sz="1750" dirty="0">
                <a:solidFill>
                  <a:srgbClr val="4C4C4C"/>
                </a:solidFill>
                <a:ea typeface="Noto Serif" pitchFamily="34" charset="-122"/>
                <a:cs typeface="Noto Serif" pitchFamily="34" charset="-120"/>
              </a:rPr>
              <a:t>Infosys</a:t>
            </a:r>
            <a:r>
              <a:rPr lang="en-US" sz="1750" dirty="0"/>
              <a:t> and Accenture received the highest number of applications</a:t>
            </a:r>
            <a:r>
              <a:rPr lang="en-US" sz="1600" dirty="0"/>
              <a:t>.</a:t>
            </a:r>
            <a:endParaRPr lang="en-US" sz="17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E12D6F-1170-E4B1-4DA5-4BF68A9FBB1A}"/>
              </a:ext>
            </a:extLst>
          </p:cNvPr>
          <p:cNvSpPr/>
          <p:nvPr/>
        </p:nvSpPr>
        <p:spPr>
          <a:xfrm>
            <a:off x="12791326" y="7633699"/>
            <a:ext cx="1839074" cy="513708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27E216-CEF6-F90F-CD26-B3E0821D9E5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02118" y="2061960"/>
            <a:ext cx="8972715" cy="5525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680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71EA0-B499-9632-BC5E-662C62B0C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467DB1C-0EE6-F739-13D0-974E2EF4732F}"/>
              </a:ext>
            </a:extLst>
          </p:cNvPr>
          <p:cNvSpPr/>
          <p:nvPr/>
        </p:nvSpPr>
        <p:spPr>
          <a:xfrm>
            <a:off x="413147" y="324564"/>
            <a:ext cx="6275329" cy="288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3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SQL Query: Rejection rate per company </a:t>
            </a:r>
            <a:endParaRPr lang="en-US" sz="2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76B5492-9A4D-18DA-D8C0-35A9854A6B00}"/>
              </a:ext>
            </a:extLst>
          </p:cNvPr>
          <p:cNvSpPr/>
          <p:nvPr/>
        </p:nvSpPr>
        <p:spPr>
          <a:xfrm>
            <a:off x="413147" y="911898"/>
            <a:ext cx="13804106" cy="1440883"/>
          </a:xfrm>
          <a:prstGeom prst="roundRect">
            <a:avLst>
              <a:gd name="adj" fmla="val 5316"/>
            </a:avLst>
          </a:prstGeom>
          <a:solidFill>
            <a:srgbClr val="F0EE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8498BE9-1C9B-8A0C-06A2-D9488073AD05}"/>
              </a:ext>
            </a:extLst>
          </p:cNvPr>
          <p:cNvSpPr/>
          <p:nvPr/>
        </p:nvSpPr>
        <p:spPr>
          <a:xfrm>
            <a:off x="413147" y="1042588"/>
            <a:ext cx="13579793" cy="1800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50"/>
              </a:lnSpc>
            </a:pP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select </a:t>
            </a:r>
            <a:r>
              <a:rPr lang="en-US" sz="1400" dirty="0" err="1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company_name,count</a:t>
            </a: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(*) as </a:t>
            </a:r>
            <a:r>
              <a:rPr lang="en-US" sz="1400" dirty="0" err="1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Number_of_rejected</a:t>
            </a: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           </a:t>
            </a:r>
          </a:p>
          <a:p>
            <a:pPr>
              <a:lnSpc>
                <a:spcPts val="1450"/>
              </a:lnSpc>
            </a:pP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ROUND(COUNT(*) * 100.0 / (SELECT COUNT(*) FROM applications WHERE </a:t>
            </a:r>
            <a:r>
              <a:rPr lang="en-US" sz="1400" dirty="0" err="1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company_name</a:t>
            </a: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 err="1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a.company_name</a:t>
            </a: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2) AS </a:t>
            </a:r>
            <a:r>
              <a:rPr lang="en-US" sz="1400" dirty="0" err="1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Rejection_Rate_Percent</a:t>
            </a: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</a:t>
            </a:r>
          </a:p>
          <a:p>
            <a:pPr>
              <a:lnSpc>
                <a:spcPts val="1450"/>
              </a:lnSpc>
            </a:pP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from applications a</a:t>
            </a:r>
          </a:p>
          <a:p>
            <a:pPr>
              <a:lnSpc>
                <a:spcPts val="1450"/>
              </a:lnSpc>
            </a:pP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where status = 'rejected'             </a:t>
            </a:r>
          </a:p>
          <a:p>
            <a:pPr>
              <a:lnSpc>
                <a:spcPts val="1450"/>
              </a:lnSpc>
            </a:pP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group by </a:t>
            </a:r>
            <a:r>
              <a:rPr lang="en-US" sz="1400" dirty="0" err="1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company_name</a:t>
            </a: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</a:p>
          <a:p>
            <a:pPr>
              <a:lnSpc>
                <a:spcPts val="1450"/>
              </a:lnSpc>
            </a:pP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order by </a:t>
            </a:r>
            <a:r>
              <a:rPr lang="en-US" sz="1400" dirty="0" err="1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Number_of_rejected</a:t>
            </a: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desc;</a:t>
            </a:r>
            <a:endParaRPr lang="en-US" sz="140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8BE4ABAA-6F7C-6301-1CBD-68D7A84DB00C}"/>
              </a:ext>
            </a:extLst>
          </p:cNvPr>
          <p:cNvSpPr/>
          <p:nvPr/>
        </p:nvSpPr>
        <p:spPr>
          <a:xfrm>
            <a:off x="668042" y="758746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b="1" dirty="0">
                <a:solidFill>
                  <a:srgbClr val="4C4C4C"/>
                </a:solidFill>
                <a:ea typeface="Noto Serif" pitchFamily="34" charset="-122"/>
                <a:cs typeface="Noto Serif" pitchFamily="34" charset="-120"/>
              </a:rPr>
              <a:t>Key Finding :</a:t>
            </a:r>
            <a:r>
              <a:rPr lang="en-US" sz="1750" dirty="0">
                <a:solidFill>
                  <a:srgbClr val="4C4C4C"/>
                </a:solidFill>
                <a:ea typeface="Noto Serif" pitchFamily="34" charset="-122"/>
                <a:cs typeface="Noto Serif" pitchFamily="34" charset="-120"/>
              </a:rPr>
              <a:t> </a:t>
            </a:r>
            <a:r>
              <a:rPr lang="en-US" sz="1750" dirty="0"/>
              <a:t>Big firms reject more candidates, while mid-sized ones are more selective.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96563B-D22A-E3D3-3B79-1289391FBA71}"/>
              </a:ext>
            </a:extLst>
          </p:cNvPr>
          <p:cNvSpPr/>
          <p:nvPr/>
        </p:nvSpPr>
        <p:spPr>
          <a:xfrm>
            <a:off x="12791326" y="7633699"/>
            <a:ext cx="1839074" cy="513708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843862-F4B0-B45D-50EA-A75255CD9A6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69203" y="2465456"/>
            <a:ext cx="10878073" cy="5055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619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C81A5-8DED-43D4-C972-BEAB94834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6FCCC5D-81F3-530B-E98E-57B7AAEA42A1}"/>
              </a:ext>
            </a:extLst>
          </p:cNvPr>
          <p:cNvSpPr/>
          <p:nvPr/>
        </p:nvSpPr>
        <p:spPr>
          <a:xfrm>
            <a:off x="413147" y="324564"/>
            <a:ext cx="6275329" cy="288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3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SQL Query: Selection rate per applicant</a:t>
            </a:r>
            <a:endParaRPr lang="en-US" sz="2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CDCFD0A-03A7-FB97-F3B1-8D98463C882B}"/>
              </a:ext>
            </a:extLst>
          </p:cNvPr>
          <p:cNvSpPr/>
          <p:nvPr/>
        </p:nvSpPr>
        <p:spPr>
          <a:xfrm>
            <a:off x="413147" y="911898"/>
            <a:ext cx="13804106" cy="1410061"/>
          </a:xfrm>
          <a:prstGeom prst="roundRect">
            <a:avLst>
              <a:gd name="adj" fmla="val 5316"/>
            </a:avLst>
          </a:prstGeom>
          <a:solidFill>
            <a:srgbClr val="F0EE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3C8CFD3-CCEA-516C-2707-E6248FCCA7A0}"/>
              </a:ext>
            </a:extLst>
          </p:cNvPr>
          <p:cNvSpPr/>
          <p:nvPr/>
        </p:nvSpPr>
        <p:spPr>
          <a:xfrm>
            <a:off x="413147" y="1042588"/>
            <a:ext cx="13579793" cy="1279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50"/>
              </a:lnSpc>
            </a:pP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select a.name, count(case when </a:t>
            </a:r>
            <a:r>
              <a:rPr lang="en-US" sz="1400" dirty="0" err="1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app.status</a:t>
            </a: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'selected' then 1 end) as </a:t>
            </a:r>
            <a:r>
              <a:rPr lang="en-US" sz="1400" dirty="0" err="1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selected_count</a:t>
            </a: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count(*) as </a:t>
            </a:r>
            <a:r>
              <a:rPr lang="en-US" sz="1400" dirty="0" err="1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total_applications</a:t>
            </a: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         </a:t>
            </a:r>
          </a:p>
          <a:p>
            <a:pPr>
              <a:lnSpc>
                <a:spcPts val="1450"/>
              </a:lnSpc>
            </a:pP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round(count(case when </a:t>
            </a:r>
            <a:r>
              <a:rPr lang="en-US" sz="1400" dirty="0" err="1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app.status</a:t>
            </a: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'selected' then 1 end) * 100.0 / count(*),2 ) as </a:t>
            </a:r>
            <a:r>
              <a:rPr lang="en-US" sz="1400" dirty="0" err="1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selection_rate_percent</a:t>
            </a: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</a:p>
          <a:p>
            <a:pPr>
              <a:lnSpc>
                <a:spcPts val="1450"/>
              </a:lnSpc>
            </a:pP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from applicants a           </a:t>
            </a:r>
          </a:p>
          <a:p>
            <a:pPr>
              <a:lnSpc>
                <a:spcPts val="1450"/>
              </a:lnSpc>
            </a:pP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join applications app on </a:t>
            </a:r>
            <a:r>
              <a:rPr lang="en-US" sz="1400" dirty="0" err="1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a.applicant_id</a:t>
            </a: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 err="1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app.applicant_id</a:t>
            </a: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</a:p>
          <a:p>
            <a:pPr>
              <a:lnSpc>
                <a:spcPts val="1450"/>
              </a:lnSpc>
            </a:pP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group by a.name           </a:t>
            </a:r>
          </a:p>
          <a:p>
            <a:pPr>
              <a:lnSpc>
                <a:spcPts val="1450"/>
              </a:lnSpc>
            </a:pP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order by </a:t>
            </a:r>
            <a:r>
              <a:rPr lang="en-US" sz="1400" dirty="0" err="1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selection_rate_percent</a:t>
            </a: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desc;</a:t>
            </a:r>
            <a:endParaRPr lang="en-US" sz="14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3F3788E2-EBBD-838B-F6F9-F81EAE8FE770}"/>
              </a:ext>
            </a:extLst>
          </p:cNvPr>
          <p:cNvSpPr/>
          <p:nvPr/>
        </p:nvSpPr>
        <p:spPr>
          <a:xfrm>
            <a:off x="3132892" y="9928860"/>
            <a:ext cx="117991" cy="117991"/>
          </a:xfrm>
          <a:prstGeom prst="roundRect">
            <a:avLst>
              <a:gd name="adj" fmla="val 15499"/>
            </a:avLst>
          </a:prstGeom>
          <a:solidFill>
            <a:srgbClr val="2B27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54CE626-04DF-F919-1785-352FDE519BAB}"/>
              </a:ext>
            </a:extLst>
          </p:cNvPr>
          <p:cNvSpPr/>
          <p:nvPr/>
        </p:nvSpPr>
        <p:spPr>
          <a:xfrm>
            <a:off x="3311843" y="9928860"/>
            <a:ext cx="438031" cy="118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Applied</a:t>
            </a:r>
            <a:endParaRPr lang="en-US" sz="9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0BF20A74-0D22-76DE-FA23-CFEB6A16AE0C}"/>
              </a:ext>
            </a:extLst>
          </p:cNvPr>
          <p:cNvSpPr/>
          <p:nvPr/>
        </p:nvSpPr>
        <p:spPr>
          <a:xfrm>
            <a:off x="5205889" y="9928860"/>
            <a:ext cx="117991" cy="117991"/>
          </a:xfrm>
          <a:prstGeom prst="roundRect">
            <a:avLst>
              <a:gd name="adj" fmla="val 15499"/>
            </a:avLst>
          </a:prstGeom>
          <a:solidFill>
            <a:srgbClr val="5D55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9DFA9F4-72EA-A9A3-7A16-9173C8BFE85E}"/>
              </a:ext>
            </a:extLst>
          </p:cNvPr>
          <p:cNvSpPr/>
          <p:nvPr/>
        </p:nvSpPr>
        <p:spPr>
          <a:xfrm>
            <a:off x="5384840" y="9928860"/>
            <a:ext cx="550545" cy="118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Interview</a:t>
            </a:r>
            <a:endParaRPr lang="en-US" sz="9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AA9A12D9-E8E5-FEDE-B2C0-5E164BF62757}"/>
              </a:ext>
            </a:extLst>
          </p:cNvPr>
          <p:cNvSpPr/>
          <p:nvPr/>
        </p:nvSpPr>
        <p:spPr>
          <a:xfrm>
            <a:off x="8733115" y="9928860"/>
            <a:ext cx="117991" cy="117991"/>
          </a:xfrm>
          <a:prstGeom prst="roundRect">
            <a:avLst>
              <a:gd name="adj" fmla="val 15499"/>
            </a:avLst>
          </a:prstGeom>
          <a:solidFill>
            <a:srgbClr val="8F84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05E6D973-1B3E-3A1D-D0FE-2F922F309348}"/>
              </a:ext>
            </a:extLst>
          </p:cNvPr>
          <p:cNvSpPr/>
          <p:nvPr/>
        </p:nvSpPr>
        <p:spPr>
          <a:xfrm>
            <a:off x="8912066" y="9928860"/>
            <a:ext cx="474226" cy="118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Rejected</a:t>
            </a:r>
            <a:endParaRPr lang="en-US" sz="9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4F0D2DCB-685D-70E8-15B8-36983C968E15}"/>
              </a:ext>
            </a:extLst>
          </p:cNvPr>
          <p:cNvSpPr/>
          <p:nvPr/>
        </p:nvSpPr>
        <p:spPr>
          <a:xfrm>
            <a:off x="10880527" y="9928860"/>
            <a:ext cx="117991" cy="117991"/>
          </a:xfrm>
          <a:prstGeom prst="roundRect">
            <a:avLst>
              <a:gd name="adj" fmla="val 15499"/>
            </a:avLst>
          </a:prstGeom>
          <a:solidFill>
            <a:srgbClr val="B7B0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E979A6A9-0C52-84D2-CC1E-671D196C005C}"/>
              </a:ext>
            </a:extLst>
          </p:cNvPr>
          <p:cNvSpPr/>
          <p:nvPr/>
        </p:nvSpPr>
        <p:spPr>
          <a:xfrm>
            <a:off x="11059478" y="9928860"/>
            <a:ext cx="293370" cy="118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Offer</a:t>
            </a:r>
            <a:endParaRPr lang="en-US" sz="9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9C4FED8F-1304-427F-1D7C-E1E44D79A5EE}"/>
              </a:ext>
            </a:extLst>
          </p:cNvPr>
          <p:cNvSpPr/>
          <p:nvPr/>
        </p:nvSpPr>
        <p:spPr>
          <a:xfrm>
            <a:off x="413147" y="10179725"/>
            <a:ext cx="13804106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Key Insight:</a:t>
            </a: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45 applications remain in progress, while 28 rejections indicate competitive screening processes requiring strategic focus.</a:t>
            </a:r>
            <a:endParaRPr lang="en-US" sz="90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4A75001D-5C76-F015-90D6-098A1DAA293E}"/>
              </a:ext>
            </a:extLst>
          </p:cNvPr>
          <p:cNvSpPr/>
          <p:nvPr/>
        </p:nvSpPr>
        <p:spPr>
          <a:xfrm>
            <a:off x="668042" y="758746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b="1" dirty="0">
                <a:solidFill>
                  <a:srgbClr val="4C4C4C"/>
                </a:solidFill>
                <a:ea typeface="Noto Serif" pitchFamily="34" charset="-122"/>
                <a:cs typeface="Noto Serif" pitchFamily="34" charset="-120"/>
              </a:rPr>
              <a:t>Key Finding :</a:t>
            </a:r>
            <a:r>
              <a:rPr lang="en-US" sz="1750" dirty="0">
                <a:solidFill>
                  <a:srgbClr val="4C4C4C"/>
                </a:solidFill>
                <a:ea typeface="Noto Serif" pitchFamily="34" charset="-122"/>
                <a:cs typeface="Noto Serif" pitchFamily="34" charset="-120"/>
              </a:rPr>
              <a:t> </a:t>
            </a:r>
            <a:r>
              <a:rPr lang="en-US" sz="1750" dirty="0"/>
              <a:t>Tushar and Rohit achieved the highest selection rates</a:t>
            </a:r>
            <a:r>
              <a:rPr lang="en-US" sz="1750" dirty="0">
                <a:solidFill>
                  <a:srgbClr val="4C4C4C"/>
                </a:solidFill>
                <a:ea typeface="Noto Serif" pitchFamily="34" charset="-122"/>
                <a:cs typeface="Noto Serif" pitchFamily="34" charset="-120"/>
              </a:rPr>
              <a:t>.</a:t>
            </a:r>
            <a:endParaRPr lang="en-US" sz="17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C3B669-D08A-6C1B-0183-811ADD2DE39A}"/>
              </a:ext>
            </a:extLst>
          </p:cNvPr>
          <p:cNvSpPr/>
          <p:nvPr/>
        </p:nvSpPr>
        <p:spPr>
          <a:xfrm>
            <a:off x="12791326" y="7633699"/>
            <a:ext cx="1839074" cy="513708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E48BB1-3A8F-0C7F-B9FF-8B7A410EC13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30858" y="2321960"/>
            <a:ext cx="6565187" cy="5232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737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1E4A2-D1F0-AAE0-EFB6-C8DD9462D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6F7CBEA-6DC1-CA08-4DD6-C307C1DAD3C5}"/>
              </a:ext>
            </a:extLst>
          </p:cNvPr>
          <p:cNvSpPr/>
          <p:nvPr/>
        </p:nvSpPr>
        <p:spPr>
          <a:xfrm>
            <a:off x="413147" y="324564"/>
            <a:ext cx="6275329" cy="288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3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SQL Query: Total applications submitted per applicant</a:t>
            </a:r>
            <a:endParaRPr lang="en-US" sz="2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B7BF20B-32A6-DB9D-B804-664CA1299F59}"/>
              </a:ext>
            </a:extLst>
          </p:cNvPr>
          <p:cNvSpPr/>
          <p:nvPr/>
        </p:nvSpPr>
        <p:spPr>
          <a:xfrm>
            <a:off x="413147" y="911898"/>
            <a:ext cx="13804106" cy="1184029"/>
          </a:xfrm>
          <a:prstGeom prst="roundRect">
            <a:avLst>
              <a:gd name="adj" fmla="val 5316"/>
            </a:avLst>
          </a:prstGeom>
          <a:solidFill>
            <a:srgbClr val="F0EE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A6A9062-2322-56AD-AE7C-0C7EBDAD331F}"/>
              </a:ext>
            </a:extLst>
          </p:cNvPr>
          <p:cNvSpPr/>
          <p:nvPr/>
        </p:nvSpPr>
        <p:spPr>
          <a:xfrm>
            <a:off x="413147" y="1042588"/>
            <a:ext cx="13579793" cy="1279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50"/>
              </a:lnSpc>
            </a:pP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select a.name, count(*) as </a:t>
            </a:r>
            <a:r>
              <a:rPr lang="en-US" sz="1400" dirty="0" err="1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number_of_applications</a:t>
            </a: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</a:p>
          <a:p>
            <a:pPr>
              <a:lnSpc>
                <a:spcPts val="1450"/>
              </a:lnSpc>
            </a:pP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from applicants a           </a:t>
            </a:r>
          </a:p>
          <a:p>
            <a:pPr>
              <a:lnSpc>
                <a:spcPts val="1450"/>
              </a:lnSpc>
            </a:pP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join applications app           </a:t>
            </a:r>
          </a:p>
          <a:p>
            <a:pPr>
              <a:lnSpc>
                <a:spcPts val="1450"/>
              </a:lnSpc>
            </a:pP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on </a:t>
            </a:r>
            <a:r>
              <a:rPr lang="en-US" sz="1400" dirty="0" err="1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a.applicant_id</a:t>
            </a: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 err="1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app.applicant_id</a:t>
            </a: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</a:p>
          <a:p>
            <a:pPr>
              <a:lnSpc>
                <a:spcPts val="1450"/>
              </a:lnSpc>
            </a:pP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group by a.name;</a:t>
            </a:r>
            <a:endParaRPr lang="en-US" sz="14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92565464-CD79-333E-B1B3-EC1095C16398}"/>
              </a:ext>
            </a:extLst>
          </p:cNvPr>
          <p:cNvSpPr/>
          <p:nvPr/>
        </p:nvSpPr>
        <p:spPr>
          <a:xfrm>
            <a:off x="3132892" y="9928860"/>
            <a:ext cx="117991" cy="117991"/>
          </a:xfrm>
          <a:prstGeom prst="roundRect">
            <a:avLst>
              <a:gd name="adj" fmla="val 15499"/>
            </a:avLst>
          </a:prstGeom>
          <a:solidFill>
            <a:srgbClr val="2B27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55243E6-FB53-0A03-BFB2-397F70BF305D}"/>
              </a:ext>
            </a:extLst>
          </p:cNvPr>
          <p:cNvSpPr/>
          <p:nvPr/>
        </p:nvSpPr>
        <p:spPr>
          <a:xfrm>
            <a:off x="3311843" y="9928860"/>
            <a:ext cx="438031" cy="118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Applied</a:t>
            </a:r>
            <a:endParaRPr lang="en-US" sz="9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BFA510AF-1311-666E-A8E3-2891B6C58AE2}"/>
              </a:ext>
            </a:extLst>
          </p:cNvPr>
          <p:cNvSpPr/>
          <p:nvPr/>
        </p:nvSpPr>
        <p:spPr>
          <a:xfrm>
            <a:off x="5205889" y="9928860"/>
            <a:ext cx="117991" cy="117991"/>
          </a:xfrm>
          <a:prstGeom prst="roundRect">
            <a:avLst>
              <a:gd name="adj" fmla="val 15499"/>
            </a:avLst>
          </a:prstGeom>
          <a:solidFill>
            <a:srgbClr val="5D55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7506C02-EDD5-1238-3634-DFA84913CBE6}"/>
              </a:ext>
            </a:extLst>
          </p:cNvPr>
          <p:cNvSpPr/>
          <p:nvPr/>
        </p:nvSpPr>
        <p:spPr>
          <a:xfrm>
            <a:off x="5384840" y="9928860"/>
            <a:ext cx="550545" cy="118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Interview</a:t>
            </a:r>
            <a:endParaRPr lang="en-US" sz="9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CD3B1DBF-C645-F235-EFAE-41B46D197255}"/>
              </a:ext>
            </a:extLst>
          </p:cNvPr>
          <p:cNvSpPr/>
          <p:nvPr/>
        </p:nvSpPr>
        <p:spPr>
          <a:xfrm>
            <a:off x="8733115" y="9928860"/>
            <a:ext cx="117991" cy="117991"/>
          </a:xfrm>
          <a:prstGeom prst="roundRect">
            <a:avLst>
              <a:gd name="adj" fmla="val 15499"/>
            </a:avLst>
          </a:prstGeom>
          <a:solidFill>
            <a:srgbClr val="8F84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50B80F86-51E3-A572-37FD-DE46A65A9A11}"/>
              </a:ext>
            </a:extLst>
          </p:cNvPr>
          <p:cNvSpPr/>
          <p:nvPr/>
        </p:nvSpPr>
        <p:spPr>
          <a:xfrm>
            <a:off x="8912066" y="9928860"/>
            <a:ext cx="474226" cy="118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Rejected</a:t>
            </a:r>
            <a:endParaRPr lang="en-US" sz="9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A6CA03F1-A4CF-4A0D-4C14-41F4D3D1CCE3}"/>
              </a:ext>
            </a:extLst>
          </p:cNvPr>
          <p:cNvSpPr/>
          <p:nvPr/>
        </p:nvSpPr>
        <p:spPr>
          <a:xfrm>
            <a:off x="10880527" y="9928860"/>
            <a:ext cx="117991" cy="117991"/>
          </a:xfrm>
          <a:prstGeom prst="roundRect">
            <a:avLst>
              <a:gd name="adj" fmla="val 15499"/>
            </a:avLst>
          </a:prstGeom>
          <a:solidFill>
            <a:srgbClr val="B7B0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B28BF94F-FC5F-F9FB-9622-594289AE325E}"/>
              </a:ext>
            </a:extLst>
          </p:cNvPr>
          <p:cNvSpPr/>
          <p:nvPr/>
        </p:nvSpPr>
        <p:spPr>
          <a:xfrm>
            <a:off x="11059478" y="9928860"/>
            <a:ext cx="293370" cy="118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Offer</a:t>
            </a:r>
            <a:endParaRPr lang="en-US" sz="9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F0A03991-6766-9EB3-41BD-63F73EC1B841}"/>
              </a:ext>
            </a:extLst>
          </p:cNvPr>
          <p:cNvSpPr/>
          <p:nvPr/>
        </p:nvSpPr>
        <p:spPr>
          <a:xfrm>
            <a:off x="413147" y="10179725"/>
            <a:ext cx="13804106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Key Insight:</a:t>
            </a: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45 applications remain in progress, while 28 rejections indicate competitive screening processes requiring strategic focus.</a:t>
            </a:r>
            <a:endParaRPr lang="en-US" sz="90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E76969AF-2FAC-C8BA-181E-EFC5D97C6752}"/>
              </a:ext>
            </a:extLst>
          </p:cNvPr>
          <p:cNvSpPr/>
          <p:nvPr/>
        </p:nvSpPr>
        <p:spPr>
          <a:xfrm>
            <a:off x="668042" y="758746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b="1" dirty="0">
                <a:solidFill>
                  <a:srgbClr val="4C4C4C"/>
                </a:solidFill>
                <a:ea typeface="Noto Serif" pitchFamily="34" charset="-122"/>
                <a:cs typeface="Noto Serif" pitchFamily="34" charset="-120"/>
              </a:rPr>
              <a:t>Key Finding :</a:t>
            </a:r>
            <a:r>
              <a:rPr lang="en-US" sz="1750" dirty="0">
                <a:solidFill>
                  <a:srgbClr val="4C4C4C"/>
                </a:solidFill>
                <a:ea typeface="Noto Serif" pitchFamily="34" charset="-122"/>
                <a:cs typeface="Noto Serif" pitchFamily="34" charset="-120"/>
              </a:rPr>
              <a:t> </a:t>
            </a:r>
            <a:r>
              <a:rPr lang="en-US" sz="1750" dirty="0"/>
              <a:t>Tushar applied to the most companies, showing strong consistency</a:t>
            </a:r>
            <a:r>
              <a:rPr lang="en-US" sz="1750" dirty="0">
                <a:solidFill>
                  <a:srgbClr val="4C4C4C"/>
                </a:solidFill>
                <a:ea typeface="Noto Serif" pitchFamily="34" charset="-122"/>
                <a:cs typeface="Noto Serif" pitchFamily="34" charset="-120"/>
              </a:rPr>
              <a:t>.</a:t>
            </a:r>
            <a:endParaRPr lang="en-US" sz="17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E92164-1DBE-B89B-8EC9-A4DD4C51FDB4}"/>
              </a:ext>
            </a:extLst>
          </p:cNvPr>
          <p:cNvSpPr/>
          <p:nvPr/>
        </p:nvSpPr>
        <p:spPr>
          <a:xfrm>
            <a:off x="12791326" y="7633699"/>
            <a:ext cx="1839074" cy="513708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47A8B1-CD00-8234-B78D-7D8BB5FDC6D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23828" y="2160180"/>
            <a:ext cx="8120200" cy="536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587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39E4D-48BC-4970-17ED-B905F4794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5DEF7EA-1E3E-DDD4-0B2C-2392E4326DD9}"/>
              </a:ext>
            </a:extLst>
          </p:cNvPr>
          <p:cNvSpPr/>
          <p:nvPr/>
        </p:nvSpPr>
        <p:spPr>
          <a:xfrm>
            <a:off x="413147" y="324564"/>
            <a:ext cx="6275329" cy="288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3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SQL Query: Top 5 most applied job roles</a:t>
            </a:r>
            <a:endParaRPr lang="en-US" sz="2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36D0C8D-E3A1-4A7A-BC9D-5CD565DC944F}"/>
              </a:ext>
            </a:extLst>
          </p:cNvPr>
          <p:cNvSpPr/>
          <p:nvPr/>
        </p:nvSpPr>
        <p:spPr>
          <a:xfrm>
            <a:off x="413147" y="911898"/>
            <a:ext cx="13804106" cy="1040191"/>
          </a:xfrm>
          <a:prstGeom prst="roundRect">
            <a:avLst>
              <a:gd name="adj" fmla="val 5316"/>
            </a:avLst>
          </a:prstGeom>
          <a:solidFill>
            <a:srgbClr val="F0EE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79AE4C5-8BBE-8C78-9474-CDA8DCE13917}"/>
              </a:ext>
            </a:extLst>
          </p:cNvPr>
          <p:cNvSpPr/>
          <p:nvPr/>
        </p:nvSpPr>
        <p:spPr>
          <a:xfrm>
            <a:off x="413147" y="1042588"/>
            <a:ext cx="13579793" cy="755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50"/>
              </a:lnSpc>
            </a:pP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select </a:t>
            </a:r>
            <a:r>
              <a:rPr lang="en-US" sz="1400" dirty="0" err="1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job_role,count</a:t>
            </a: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(*) as </a:t>
            </a:r>
            <a:r>
              <a:rPr lang="en-US" sz="1400" dirty="0" err="1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Number_of_application</a:t>
            </a: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</a:p>
          <a:p>
            <a:pPr>
              <a:lnSpc>
                <a:spcPts val="1450"/>
              </a:lnSpc>
            </a:pP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from applications           </a:t>
            </a:r>
          </a:p>
          <a:p>
            <a:pPr>
              <a:lnSpc>
                <a:spcPts val="1450"/>
              </a:lnSpc>
            </a:pP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group by </a:t>
            </a:r>
            <a:r>
              <a:rPr lang="en-US" sz="1400" dirty="0" err="1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job_role</a:t>
            </a: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</a:p>
          <a:p>
            <a:pPr>
              <a:lnSpc>
                <a:spcPts val="1450"/>
              </a:lnSpc>
            </a:pP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order by </a:t>
            </a:r>
            <a:r>
              <a:rPr lang="en-US" sz="1400" dirty="0" err="1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Number_of_application</a:t>
            </a:r>
            <a:r>
              <a:rPr lang="en-US" sz="140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desc limit 5;</a:t>
            </a:r>
            <a:endParaRPr lang="en-US" sz="14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6440796D-4271-4FE9-CA4C-D510828FBE8A}"/>
              </a:ext>
            </a:extLst>
          </p:cNvPr>
          <p:cNvSpPr/>
          <p:nvPr/>
        </p:nvSpPr>
        <p:spPr>
          <a:xfrm>
            <a:off x="3132892" y="9928860"/>
            <a:ext cx="117991" cy="117991"/>
          </a:xfrm>
          <a:prstGeom prst="roundRect">
            <a:avLst>
              <a:gd name="adj" fmla="val 15499"/>
            </a:avLst>
          </a:prstGeom>
          <a:solidFill>
            <a:srgbClr val="2B27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E37AB67-C718-E554-2567-FF54225CBB78}"/>
              </a:ext>
            </a:extLst>
          </p:cNvPr>
          <p:cNvSpPr/>
          <p:nvPr/>
        </p:nvSpPr>
        <p:spPr>
          <a:xfrm>
            <a:off x="3311843" y="9928860"/>
            <a:ext cx="438031" cy="118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Applied</a:t>
            </a:r>
            <a:endParaRPr lang="en-US" sz="9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31536128-F1B4-5082-8047-B36B844CAAF2}"/>
              </a:ext>
            </a:extLst>
          </p:cNvPr>
          <p:cNvSpPr/>
          <p:nvPr/>
        </p:nvSpPr>
        <p:spPr>
          <a:xfrm>
            <a:off x="5205889" y="9928860"/>
            <a:ext cx="117991" cy="117991"/>
          </a:xfrm>
          <a:prstGeom prst="roundRect">
            <a:avLst>
              <a:gd name="adj" fmla="val 15499"/>
            </a:avLst>
          </a:prstGeom>
          <a:solidFill>
            <a:srgbClr val="5D55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02E6502-A078-D091-EFFD-F94AB73C70B1}"/>
              </a:ext>
            </a:extLst>
          </p:cNvPr>
          <p:cNvSpPr/>
          <p:nvPr/>
        </p:nvSpPr>
        <p:spPr>
          <a:xfrm>
            <a:off x="5384840" y="9928860"/>
            <a:ext cx="550545" cy="118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Interview</a:t>
            </a:r>
            <a:endParaRPr lang="en-US" sz="9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6175E156-484A-DAE4-7FFD-8708E8C2ED42}"/>
              </a:ext>
            </a:extLst>
          </p:cNvPr>
          <p:cNvSpPr/>
          <p:nvPr/>
        </p:nvSpPr>
        <p:spPr>
          <a:xfrm>
            <a:off x="8733115" y="9928860"/>
            <a:ext cx="117991" cy="117991"/>
          </a:xfrm>
          <a:prstGeom prst="roundRect">
            <a:avLst>
              <a:gd name="adj" fmla="val 15499"/>
            </a:avLst>
          </a:prstGeom>
          <a:solidFill>
            <a:srgbClr val="8F84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9C368220-6E2B-70D9-D48B-DEADD42B3CC7}"/>
              </a:ext>
            </a:extLst>
          </p:cNvPr>
          <p:cNvSpPr/>
          <p:nvPr/>
        </p:nvSpPr>
        <p:spPr>
          <a:xfrm>
            <a:off x="8912066" y="9928860"/>
            <a:ext cx="474226" cy="118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Rejected</a:t>
            </a:r>
            <a:endParaRPr lang="en-US" sz="9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58BC96F2-C0CF-8D66-481E-75E4ED1D2359}"/>
              </a:ext>
            </a:extLst>
          </p:cNvPr>
          <p:cNvSpPr/>
          <p:nvPr/>
        </p:nvSpPr>
        <p:spPr>
          <a:xfrm>
            <a:off x="10880527" y="9928860"/>
            <a:ext cx="117991" cy="117991"/>
          </a:xfrm>
          <a:prstGeom prst="roundRect">
            <a:avLst>
              <a:gd name="adj" fmla="val 15499"/>
            </a:avLst>
          </a:prstGeom>
          <a:solidFill>
            <a:srgbClr val="B7B0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6A1F2D1-4918-C7DC-4D98-6624983795C5}"/>
              </a:ext>
            </a:extLst>
          </p:cNvPr>
          <p:cNvSpPr/>
          <p:nvPr/>
        </p:nvSpPr>
        <p:spPr>
          <a:xfrm>
            <a:off x="11059478" y="9928860"/>
            <a:ext cx="293370" cy="118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Offer</a:t>
            </a:r>
            <a:endParaRPr lang="en-US" sz="9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BE2D3EF7-C77A-9E87-7540-F0F4EA7CE5D5}"/>
              </a:ext>
            </a:extLst>
          </p:cNvPr>
          <p:cNvSpPr/>
          <p:nvPr/>
        </p:nvSpPr>
        <p:spPr>
          <a:xfrm>
            <a:off x="413147" y="10179725"/>
            <a:ext cx="13804106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Key Insight:</a:t>
            </a: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45 applications remain in progress, while 28 rejections indicate competitive screening processes requiring strategic focus.</a:t>
            </a:r>
            <a:endParaRPr lang="en-US" sz="90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F502B1E2-81DD-B095-F640-52587F9C290D}"/>
              </a:ext>
            </a:extLst>
          </p:cNvPr>
          <p:cNvSpPr/>
          <p:nvPr/>
        </p:nvSpPr>
        <p:spPr>
          <a:xfrm>
            <a:off x="668042" y="758746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b="1" dirty="0">
                <a:solidFill>
                  <a:srgbClr val="4C4C4C"/>
                </a:solidFill>
                <a:ea typeface="Noto Serif" pitchFamily="34" charset="-122"/>
                <a:cs typeface="Noto Serif" pitchFamily="34" charset="-120"/>
              </a:rPr>
              <a:t>Key Finding :</a:t>
            </a:r>
            <a:r>
              <a:rPr lang="en-US" sz="1750" dirty="0">
                <a:solidFill>
                  <a:srgbClr val="4C4C4C"/>
                </a:solidFill>
                <a:ea typeface="Noto Serif" pitchFamily="34" charset="-122"/>
                <a:cs typeface="Noto Serif" pitchFamily="34" charset="-120"/>
              </a:rPr>
              <a:t> </a:t>
            </a:r>
            <a:r>
              <a:rPr lang="en-US" sz="1750" dirty="0"/>
              <a:t>Data Analyst and AI Engineer roles are the most sought-after</a:t>
            </a:r>
            <a:r>
              <a:rPr lang="en-US" sz="1750" dirty="0">
                <a:solidFill>
                  <a:srgbClr val="4C4C4C"/>
                </a:solidFill>
                <a:ea typeface="Noto Serif" pitchFamily="34" charset="-122"/>
                <a:cs typeface="Noto Serif" pitchFamily="34" charset="-120"/>
              </a:rPr>
              <a:t>.</a:t>
            </a:r>
            <a:endParaRPr lang="en-US" sz="17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760B8B-461A-C4B8-BFE5-2ECFCEDA6B79}"/>
              </a:ext>
            </a:extLst>
          </p:cNvPr>
          <p:cNvSpPr/>
          <p:nvPr/>
        </p:nvSpPr>
        <p:spPr>
          <a:xfrm>
            <a:off x="12791326" y="7633699"/>
            <a:ext cx="1839074" cy="513708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411EE1-35F0-FE17-4D8F-9CE1224C569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93435" y="2082779"/>
            <a:ext cx="8990082" cy="540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049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310" y="442898"/>
            <a:ext cx="899338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ea typeface="Noto Serif Medium" pitchFamily="34" charset="-122"/>
                <a:cs typeface="Noto Serif Medium" pitchFamily="34" charset="-120"/>
              </a:rPr>
              <a:t>Strategic Insights &amp; Key Findings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73787" y="1899389"/>
            <a:ext cx="6407944" cy="2683208"/>
          </a:xfrm>
          <a:prstGeom prst="roundRect">
            <a:avLst>
              <a:gd name="adj" fmla="val 6988"/>
            </a:avLst>
          </a:prstGeom>
          <a:solidFill>
            <a:srgbClr val="FDFBF7"/>
          </a:solidFill>
          <a:ln w="30480">
            <a:solidFill>
              <a:srgbClr val="9C9283"/>
            </a:solidFill>
            <a:prstDash val="solid"/>
          </a:ln>
          <a:effectLst>
            <a:outerShdw dist="20320" dir="2700000" algn="bl" rotWithShape="0">
              <a:srgbClr val="9C9283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63309" y="1899389"/>
            <a:ext cx="132399" cy="2683208"/>
          </a:xfrm>
          <a:prstGeom prst="roundRect">
            <a:avLst>
              <a:gd name="adj" fmla="val 78139"/>
            </a:avLst>
          </a:prstGeom>
          <a:solidFill>
            <a:srgbClr val="9C92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71086" y="21345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ea typeface="Noto Serif Medium" pitchFamily="34" charset="-122"/>
                <a:cs typeface="Noto Serif Medium" pitchFamily="34" charset="-120"/>
              </a:rPr>
              <a:t>Seasonal Trends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12045" y="2638017"/>
            <a:ext cx="5801916" cy="1687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/>
              <a:t>Most applications were submitted between </a:t>
            </a:r>
            <a:r>
              <a:rPr lang="en-US" sz="1750" b="1" dirty="0"/>
              <a:t>September and October</a:t>
            </a:r>
            <a:r>
              <a:rPr lang="en-US" sz="1750" dirty="0"/>
              <a:t>, showing a clear hiring cycle. Aligning future applications during these active months can increase interview chances and recruiter responses.</a:t>
            </a:r>
          </a:p>
        </p:txBody>
      </p:sp>
      <p:sp>
        <p:nvSpPr>
          <p:cNvPr id="7" name="Shape 5"/>
          <p:cNvSpPr/>
          <p:nvPr/>
        </p:nvSpPr>
        <p:spPr>
          <a:xfrm>
            <a:off x="7428548" y="1899389"/>
            <a:ext cx="6408063" cy="2683208"/>
          </a:xfrm>
          <a:prstGeom prst="roundRect">
            <a:avLst>
              <a:gd name="adj" fmla="val 6988"/>
            </a:avLst>
          </a:prstGeom>
          <a:solidFill>
            <a:srgbClr val="FDFBF7"/>
          </a:solidFill>
          <a:ln w="30480">
            <a:solidFill>
              <a:srgbClr val="6F7F71"/>
            </a:solidFill>
            <a:prstDash val="solid"/>
          </a:ln>
          <a:effectLst>
            <a:outerShdw dist="20320" dir="2700000" algn="bl" rotWithShape="0">
              <a:srgbClr val="6F7F71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398067" y="1899389"/>
            <a:ext cx="121920" cy="2683208"/>
          </a:xfrm>
          <a:prstGeom prst="roundRect">
            <a:avLst>
              <a:gd name="adj" fmla="val 78139"/>
            </a:avLst>
          </a:prstGeom>
          <a:solidFill>
            <a:srgbClr val="6F7F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643718" y="2132264"/>
            <a:ext cx="38182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ea typeface="Noto Serif Medium" pitchFamily="34" charset="-122"/>
                <a:cs typeface="Noto Serif Medium" pitchFamily="34" charset="-120"/>
              </a:rPr>
              <a:t>Company Selection Strategy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36323" y="2622682"/>
            <a:ext cx="5802035" cy="170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/>
              <a:t>Large organizations such as Google and Amazon show </a:t>
            </a:r>
            <a:r>
              <a:rPr lang="en-US" sz="1750" b="1" dirty="0"/>
              <a:t>higher rejection rates</a:t>
            </a:r>
            <a:r>
              <a:rPr lang="en-US" sz="1750" dirty="0"/>
              <a:t>, while mid-size or startup firms offer better response ratios. Targeting balanced company types can improve overall success rates.</a:t>
            </a:r>
          </a:p>
        </p:txBody>
      </p:sp>
      <p:sp>
        <p:nvSpPr>
          <p:cNvPr id="11" name="Shape 9"/>
          <p:cNvSpPr/>
          <p:nvPr/>
        </p:nvSpPr>
        <p:spPr>
          <a:xfrm>
            <a:off x="839510" y="4817761"/>
            <a:ext cx="6407944" cy="2608530"/>
          </a:xfrm>
          <a:prstGeom prst="roundRect">
            <a:avLst>
              <a:gd name="adj" fmla="val 6988"/>
            </a:avLst>
          </a:prstGeom>
          <a:solidFill>
            <a:srgbClr val="FDFBF7"/>
          </a:solidFill>
          <a:ln w="30480">
            <a:solidFill>
              <a:srgbClr val="A8B8A2"/>
            </a:solidFill>
            <a:prstDash val="solid"/>
          </a:ln>
          <a:effectLst>
            <a:outerShdw dist="20320" dir="2700000" algn="bl" rotWithShape="0">
              <a:srgbClr val="A8B8A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63310" y="4809410"/>
            <a:ext cx="121919" cy="2608531"/>
          </a:xfrm>
          <a:prstGeom prst="roundRect">
            <a:avLst>
              <a:gd name="adj" fmla="val 78139"/>
            </a:avLst>
          </a:prstGeom>
          <a:solidFill>
            <a:srgbClr val="A8B8A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142523" y="5066705"/>
            <a:ext cx="37377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ea typeface="Noto Serif Medium" pitchFamily="34" charset="-122"/>
              </a:rPr>
              <a:t>Application Performance Trend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5557122"/>
            <a:ext cx="5801916" cy="1614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/>
              <a:t>Tushar shows the </a:t>
            </a:r>
            <a:r>
              <a:rPr lang="en-US" sz="1750" b="1" dirty="0"/>
              <a:t>highest selection ratio (around 18%)</a:t>
            </a:r>
            <a:r>
              <a:rPr lang="en-US" sz="1750" dirty="0"/>
              <a:t>, mainly from focused AI and Data roles. Applicants with diversified but strategic choices, like Rohit, also perform well—suggesting that quality targeting beats volume</a:t>
            </a:r>
          </a:p>
        </p:txBody>
      </p:sp>
      <p:sp>
        <p:nvSpPr>
          <p:cNvPr id="15" name="Shape 13"/>
          <p:cNvSpPr/>
          <p:nvPr/>
        </p:nvSpPr>
        <p:spPr>
          <a:xfrm>
            <a:off x="7428548" y="4809411"/>
            <a:ext cx="6408063" cy="2608528"/>
          </a:xfrm>
          <a:prstGeom prst="roundRect">
            <a:avLst>
              <a:gd name="adj" fmla="val 6988"/>
            </a:avLst>
          </a:prstGeom>
          <a:solidFill>
            <a:srgbClr val="FDFBF7"/>
          </a:solidFill>
          <a:ln w="30480">
            <a:solidFill>
              <a:srgbClr val="3A3A3A"/>
            </a:solidFill>
            <a:prstDash val="solid"/>
          </a:ln>
          <a:effectLst>
            <a:outerShdw dist="20320" dir="2700000" algn="bl" rotWithShape="0">
              <a:srgbClr val="3A3A3A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398067" y="4809410"/>
            <a:ext cx="121920" cy="2608529"/>
          </a:xfrm>
          <a:prstGeom prst="roundRect">
            <a:avLst>
              <a:gd name="adj" fmla="val 78139"/>
            </a:avLst>
          </a:prstGeom>
          <a:solidFill>
            <a:srgbClr val="3A3A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777282" y="5066705"/>
            <a:ext cx="289726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ea typeface="Noto Serif Medium" pitchFamily="34" charset="-122"/>
                <a:cs typeface="Noto Serif Medium" pitchFamily="34" charset="-120"/>
              </a:rPr>
              <a:t>Role Market Demand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5557123"/>
            <a:ext cx="5802035" cy="1614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b="1" dirty="0"/>
              <a:t>AI Engineer</a:t>
            </a:r>
            <a:r>
              <a:rPr lang="en-US" sz="1750" dirty="0"/>
              <a:t> and </a:t>
            </a:r>
            <a:r>
              <a:rPr lang="en-US" sz="1750" b="1" dirty="0"/>
              <a:t>Data Analyst</a:t>
            </a:r>
            <a:r>
              <a:rPr lang="en-US" sz="1750" dirty="0"/>
              <a:t> roles dominate total applications (about 60%), proving they are the most competitive and in-demand fields. Prioritizing interview preparation in these roles could increase final selections.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4CD38D-D192-C60E-3958-50B5EDC3A969}"/>
              </a:ext>
            </a:extLst>
          </p:cNvPr>
          <p:cNvSpPr/>
          <p:nvPr/>
        </p:nvSpPr>
        <p:spPr>
          <a:xfrm>
            <a:off x="12791326" y="7695344"/>
            <a:ext cx="1756881" cy="441789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1383" y="809387"/>
            <a:ext cx="6492478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3A3A3A"/>
                </a:solidFill>
                <a:ea typeface="Noto Serif Medium" pitchFamily="34" charset="-122"/>
                <a:cs typeface="Noto Serif Medium" pitchFamily="34" charset="-120"/>
              </a:rPr>
              <a:t>Recommendations &amp; Next Steps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91383" y="1675328"/>
            <a:ext cx="168950" cy="1013817"/>
          </a:xfrm>
          <a:prstGeom prst="roundRect">
            <a:avLst>
              <a:gd name="adj" fmla="val 42008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524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29283" y="1844278"/>
            <a:ext cx="3024426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IN" sz="1600" dirty="0"/>
              <a:t>Diversify Application Targets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29283" y="2209562"/>
            <a:ext cx="13109734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400" dirty="0"/>
              <a:t>Don’t rely too much on large firms — they show high rejection rates. Include </a:t>
            </a:r>
            <a:r>
              <a:rPr lang="en-US" sz="1400" b="1" dirty="0"/>
              <a:t>mid-sized and startup companies</a:t>
            </a:r>
            <a:r>
              <a:rPr lang="en-US" sz="1400" dirty="0"/>
              <a:t> that have faster response times and better acceptance ratios.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44748" y="2858095"/>
            <a:ext cx="168950" cy="1013817"/>
          </a:xfrm>
          <a:prstGeom prst="roundRect">
            <a:avLst>
              <a:gd name="adj" fmla="val 42008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524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182648" y="3027045"/>
            <a:ext cx="2948464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600" dirty="0"/>
              <a:t>Align Applications with Hiring Seasons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82648" y="3392329"/>
            <a:ext cx="12856369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400" dirty="0"/>
              <a:t>Application volume peaks in </a:t>
            </a:r>
            <a:r>
              <a:rPr lang="en-US" sz="1400" b="1" dirty="0"/>
              <a:t>September–October</a:t>
            </a:r>
            <a:r>
              <a:rPr lang="en-US" sz="1400" dirty="0"/>
              <a:t>, suggesting stronger recruiter activity. Submitting applications in these months can improve visibility and callback rates.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8233" y="4040862"/>
            <a:ext cx="168950" cy="1013817"/>
          </a:xfrm>
          <a:prstGeom prst="roundRect">
            <a:avLst>
              <a:gd name="adj" fmla="val 42008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524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436132" y="4209812"/>
            <a:ext cx="3005733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IN" sz="1600" dirty="0"/>
              <a:t>Focus on High-Demand Roles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436132" y="4575096"/>
            <a:ext cx="12602885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400" dirty="0"/>
              <a:t>Positions like </a:t>
            </a:r>
            <a:r>
              <a:rPr lang="en-US" sz="1400" b="1" dirty="0"/>
              <a:t>Data Analyst</a:t>
            </a:r>
            <a:r>
              <a:rPr lang="en-US" sz="1400" dirty="0"/>
              <a:t> and </a:t>
            </a:r>
            <a:r>
              <a:rPr lang="en-US" sz="1400" b="1" dirty="0"/>
              <a:t>AI Engineer</a:t>
            </a:r>
            <a:r>
              <a:rPr lang="en-US" sz="1400" dirty="0"/>
              <a:t> make up most applications and selections. Strengthen skills, certifications, and projects around these roles to stay competitive.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51717" y="5223629"/>
            <a:ext cx="168950" cy="1013817"/>
          </a:xfrm>
          <a:prstGeom prst="roundRect">
            <a:avLst>
              <a:gd name="adj" fmla="val 42008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524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689616" y="5392579"/>
            <a:ext cx="2505670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600" dirty="0"/>
              <a:t>Track and Learn from Interview Feedback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689616" y="5757862"/>
            <a:ext cx="12349401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400" dirty="0"/>
              <a:t>Use interview notes and outcomes to spot recurring weaknesses — whether in SQL, communication, or project clarity — and work on improving them before the next round.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8233" y="6406396"/>
            <a:ext cx="168950" cy="1013817"/>
          </a:xfrm>
          <a:prstGeom prst="roundRect">
            <a:avLst>
              <a:gd name="adj" fmla="val 42008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524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436132" y="6575346"/>
            <a:ext cx="3062287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IN" sz="1600" dirty="0"/>
              <a:t>Implement Monthly Tracking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436132" y="6940629"/>
            <a:ext cx="12602885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400" dirty="0"/>
              <a:t>Automate tracking of new applications and interview updates through SQL + Python scripts. Use dashboards to monitor trends and measure progress each month.</a:t>
            </a:r>
            <a:endParaRPr lang="en-US" sz="13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42BC85-8619-A4A4-FCD5-2C66B595DC3A}"/>
              </a:ext>
            </a:extLst>
          </p:cNvPr>
          <p:cNvSpPr/>
          <p:nvPr/>
        </p:nvSpPr>
        <p:spPr>
          <a:xfrm>
            <a:off x="12585843" y="7572054"/>
            <a:ext cx="1952090" cy="551342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2CB27-3383-7B14-1D11-13B71D06C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D13D7C9-E360-C8BD-CE8B-4360D42055AD}"/>
              </a:ext>
            </a:extLst>
          </p:cNvPr>
          <p:cNvSpPr/>
          <p:nvPr/>
        </p:nvSpPr>
        <p:spPr>
          <a:xfrm>
            <a:off x="591382" y="809387"/>
            <a:ext cx="8786533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4800" dirty="0">
                <a:solidFill>
                  <a:srgbClr val="3A3A3A"/>
                </a:solidFill>
                <a:ea typeface="Noto Serif Medium" pitchFamily="34" charset="-122"/>
              </a:rPr>
              <a:t>Conclusion</a:t>
            </a:r>
            <a:endParaRPr lang="en-US" sz="33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573BDA7-BBA5-705C-34D6-C8A7707CA180}"/>
              </a:ext>
            </a:extLst>
          </p:cNvPr>
          <p:cNvSpPr/>
          <p:nvPr/>
        </p:nvSpPr>
        <p:spPr>
          <a:xfrm>
            <a:off x="1069415" y="2923954"/>
            <a:ext cx="168950" cy="3459795"/>
          </a:xfrm>
          <a:prstGeom prst="roundRect">
            <a:avLst>
              <a:gd name="adj" fmla="val 42008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524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E1C747E-E402-C7EC-F880-F2F4FC4E2835}"/>
              </a:ext>
            </a:extLst>
          </p:cNvPr>
          <p:cNvSpPr/>
          <p:nvPr/>
        </p:nvSpPr>
        <p:spPr>
          <a:xfrm>
            <a:off x="1787006" y="3551275"/>
            <a:ext cx="10206519" cy="2832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100"/>
              </a:lnSpc>
            </a:pPr>
            <a:r>
              <a:rPr lang="en-US" sz="2000" dirty="0"/>
              <a:t>This project turned raw job data into actionable insights.</a:t>
            </a:r>
          </a:p>
          <a:p>
            <a:pPr lvl="1" algn="ctr">
              <a:lnSpc>
                <a:spcPts val="2100"/>
              </a:lnSpc>
            </a:pPr>
            <a:br>
              <a:rPr lang="en-US" sz="2000" dirty="0"/>
            </a:br>
            <a:r>
              <a:rPr lang="en-US" sz="2000" dirty="0"/>
              <a:t>Using SQL and Python, I identified trends that reveal how timing, company choice, and</a:t>
            </a:r>
          </a:p>
          <a:p>
            <a:pPr lvl="1" algn="ctr">
              <a:lnSpc>
                <a:spcPts val="2100"/>
              </a:lnSpc>
            </a:pPr>
            <a:r>
              <a:rPr lang="en-US" sz="2000" dirty="0"/>
              <a:t>skills impact results.</a:t>
            </a:r>
          </a:p>
          <a:p>
            <a:pPr algn="ctr">
              <a:lnSpc>
                <a:spcPts val="2100"/>
              </a:lnSpc>
            </a:pPr>
            <a:br>
              <a:rPr lang="en-US" sz="2000" dirty="0"/>
            </a:br>
            <a:r>
              <a:rPr lang="en-US" sz="2000" dirty="0"/>
              <a:t>It’s a step toward smarter applications — </a:t>
            </a:r>
          </a:p>
          <a:p>
            <a:pPr algn="ctr">
              <a:lnSpc>
                <a:spcPts val="2100"/>
              </a:lnSpc>
            </a:pPr>
            <a:r>
              <a:rPr lang="en-US" sz="2000" dirty="0"/>
              <a:t>and a reminder that data can guide career growth as much as effort does.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125934-7B69-D66E-C714-5D5FC7A2BFE9}"/>
              </a:ext>
            </a:extLst>
          </p:cNvPr>
          <p:cNvSpPr/>
          <p:nvPr/>
        </p:nvSpPr>
        <p:spPr>
          <a:xfrm>
            <a:off x="12791326" y="7695344"/>
            <a:ext cx="1756881" cy="441789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356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1193</Words>
  <Application>Microsoft Office PowerPoint</Application>
  <PresentationFormat>Custom</PresentationFormat>
  <Paragraphs>132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Consolas</vt:lpstr>
      <vt:lpstr>Noto Serif</vt:lpstr>
      <vt:lpstr>Noto Serif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Tushar Shukla</cp:lastModifiedBy>
  <cp:revision>13</cp:revision>
  <dcterms:created xsi:type="dcterms:W3CDTF">2025-11-07T03:14:17Z</dcterms:created>
  <dcterms:modified xsi:type="dcterms:W3CDTF">2025-11-07T16:22:04Z</dcterms:modified>
</cp:coreProperties>
</file>