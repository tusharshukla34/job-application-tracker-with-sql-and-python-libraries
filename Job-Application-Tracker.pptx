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4" r:id="rId5"/>
    <p:sldId id="279" r:id="rId6"/>
    <p:sldId id="280" r:id="rId7"/>
    <p:sldId id="278" r:id="rId8"/>
    <p:sldId id="277" r:id="rId9"/>
    <p:sldId id="276" r:id="rId10"/>
    <p:sldId id="275" r:id="rId11"/>
    <p:sldId id="264" r:id="rId12"/>
    <p:sldId id="265" r:id="rId13"/>
    <p:sldId id="267" r:id="rId14"/>
  </p:sldIdLst>
  <p:sldSz cx="14630400" cy="8229600"/>
  <p:notesSz cx="8229600" cy="1463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B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33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46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7B4BA-36A7-6C2C-64BE-279266DFA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CAC9C-53C5-4B12-01D8-FC53DF2BE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53F37F-B672-1D8A-747D-BCDEC9A33A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85B62-E0BB-68AA-EA59-DB12B9A583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875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5978-AEF9-CAC8-0904-AFBA92A49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E1F94-52C4-195C-6958-1AC5039688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8A2C3-0C0F-2106-F42B-4FCF99249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055CA4-A000-453C-FB26-40B4E8B7A9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7406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5D871-599F-9519-55D4-281730D4F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C5B615-CB15-212D-1243-449B10E82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73092A-B77A-4AA0-0967-E663A88569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71F42-1B3E-0789-8D23-85B19F674C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011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F9E58-7D92-EDD2-D4DE-CC70EFE7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E743C9-0DDC-795C-480A-9E64F26691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FA722F-5C26-4EE7-F00C-FA7E092F6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A5CE1-4BCA-940F-12DC-A308A95882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9856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9F992-BDBC-39D2-C2CF-B0B39C7C8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982257-C89E-88E6-CEFB-983476E26F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B66A-C7B7-5AE5-31D7-098E14C31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D7B2C-853E-973E-B5BA-F9C6BB9426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392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CB6E1-CF76-45AD-51B6-BF05CC25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53ECF-33E1-6FDE-D102-1BA718A279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06567E-7B6C-1F96-2E3A-309DBDB89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E14DF-12C2-5BAF-5B6E-386D86746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0242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CF7FA-C532-579A-2D0E-3E44DB4EF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C634A3-FEA6-AFD8-9EBC-9F6BDEE4C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105C28-EFB7-B747-D8E3-7BBE6F0A5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E776-6165-7990-F679-CB19A72038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0808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E4C7B-0B00-F77D-A475-3F4D1D1E6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040537-11AD-74B2-B68C-E3BBFBD81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E469C-EDAB-BAA1-3AA2-36CE7356C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904EE-A27E-263A-E62B-4A23F09C7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891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6DED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DFBF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194673"/>
            <a:ext cx="651795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A3A3A"/>
                </a:solidFill>
                <a:ea typeface="Noto Serif Medium" pitchFamily="34" charset="-122"/>
                <a:cs typeface="Noto Serif Medium" pitchFamily="34" charset="-120"/>
              </a:rPr>
              <a:t>Job Application Tracker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2243614"/>
            <a:ext cx="7556421" cy="2835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150"/>
              </a:lnSpc>
              <a:buNone/>
            </a:pPr>
            <a:r>
              <a:rPr lang="en-US" sz="8900" dirty="0">
                <a:solidFill>
                  <a:srgbClr val="3A3A3A"/>
                </a:solidFill>
                <a:ea typeface="Noto Serif Medium" pitchFamily="34" charset="-122"/>
                <a:cs typeface="Noto Serif Medium" pitchFamily="34" charset="-120"/>
              </a:rPr>
              <a:t>SQL &amp; Python Project</a:t>
            </a:r>
            <a:endParaRPr lang="en-US" sz="8900" dirty="0"/>
          </a:p>
        </p:txBody>
      </p:sp>
      <p:sp>
        <p:nvSpPr>
          <p:cNvPr id="5" name="Text 2"/>
          <p:cNvSpPr/>
          <p:nvPr/>
        </p:nvSpPr>
        <p:spPr>
          <a:xfrm>
            <a:off x="6280190" y="5419130"/>
            <a:ext cx="7556421" cy="907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Tracking and analyzing job applications using data visualization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280190" y="6581299"/>
            <a:ext cx="75564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By Tushar Shukla</a:t>
            </a:r>
            <a:endParaRPr lang="en-US" sz="2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835C05-F463-151C-BA3F-36ACD01BD83F}"/>
              </a:ext>
            </a:extLst>
          </p:cNvPr>
          <p:cNvSpPr/>
          <p:nvPr/>
        </p:nvSpPr>
        <p:spPr>
          <a:xfrm>
            <a:off x="12565294" y="7551506"/>
            <a:ext cx="1982913" cy="575352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1906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A3A3A"/>
                </a:solidFill>
                <a:ea typeface="Noto Serif Medium" pitchFamily="34" charset="-122"/>
                <a:cs typeface="Noto Serif Medium" pitchFamily="34" charset="-120"/>
              </a:rPr>
              <a:t>Project Objective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181469"/>
            <a:ext cx="4196358" cy="2746720"/>
          </a:xfrm>
          <a:prstGeom prst="roundRect">
            <a:avLst>
              <a:gd name="adj" fmla="val 4652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2032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28224" y="34159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ea typeface="Noto Serif Medium" pitchFamily="34" charset="-122"/>
                <a:cs typeface="Noto Serif Medium" pitchFamily="34" charset="-120"/>
              </a:rPr>
              <a:t>Analyze &amp; Track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8224" y="3906322"/>
            <a:ext cx="3727490" cy="1826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/>
              <a:t>Using SQL and Python, I wanted to see patterns in the application process, like which companies receive the most applications or where rejections happen most often.</a:t>
            </a:r>
          </a:p>
        </p:txBody>
      </p:sp>
      <p:sp>
        <p:nvSpPr>
          <p:cNvPr id="6" name="Shape 4"/>
          <p:cNvSpPr/>
          <p:nvPr/>
        </p:nvSpPr>
        <p:spPr>
          <a:xfrm>
            <a:off x="5216962" y="3181468"/>
            <a:ext cx="4196358" cy="2746719"/>
          </a:xfrm>
          <a:prstGeom prst="roundRect">
            <a:avLst>
              <a:gd name="adj" fmla="val 4652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2032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51396" y="3452693"/>
            <a:ext cx="3961924" cy="317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dirty="0"/>
              <a:t>Track job </a:t>
            </a:r>
            <a:r>
              <a:rPr lang="en-US" sz="2200" dirty="0"/>
              <a:t>applications</a:t>
            </a:r>
            <a:r>
              <a:rPr lang="en-US" sz="2400" dirty="0"/>
              <a:t> 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51396" y="3906322"/>
            <a:ext cx="3727490" cy="1826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/>
              <a:t>The goal was to build a simple system to record and organize all job applications — including company names, job roles, dates, and current status.</a:t>
            </a:r>
          </a:p>
        </p:txBody>
      </p:sp>
      <p:sp>
        <p:nvSpPr>
          <p:cNvPr id="9" name="Shape 7"/>
          <p:cNvSpPr/>
          <p:nvPr/>
        </p:nvSpPr>
        <p:spPr>
          <a:xfrm>
            <a:off x="9640133" y="3181469"/>
            <a:ext cx="4196358" cy="2746718"/>
          </a:xfrm>
          <a:prstGeom prst="roundRect">
            <a:avLst>
              <a:gd name="adj" fmla="val 4652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2032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874568" y="34159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ea typeface="Noto Serif Medium" pitchFamily="34" charset="-122"/>
                <a:cs typeface="Noto Serif Medium" pitchFamily="34" charset="-120"/>
              </a:rPr>
              <a:t>Drive Insights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874568" y="3906322"/>
            <a:ext cx="3727490" cy="1826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>
                <a:solidFill>
                  <a:srgbClr val="000000"/>
                </a:solidFill>
                <a:ea typeface="Noto Serif" pitchFamily="34" charset="-122"/>
                <a:cs typeface="Noto Serif" pitchFamily="34" charset="-120"/>
              </a:rPr>
              <a:t>Visualize performance data to </a:t>
            </a:r>
            <a:r>
              <a:rPr lang="en-US" sz="1750" dirty="0"/>
              <a:t>understand personal progress, spot areas to improve, and make better choices in future applications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AB76F7-6445-E162-19B3-9E4B1616BCB4}"/>
              </a:ext>
            </a:extLst>
          </p:cNvPr>
          <p:cNvSpPr/>
          <p:nvPr/>
        </p:nvSpPr>
        <p:spPr>
          <a:xfrm>
            <a:off x="12709803" y="7530957"/>
            <a:ext cx="1848678" cy="595901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1638" y="566976"/>
            <a:ext cx="5589746" cy="6443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50"/>
              </a:lnSpc>
              <a:buNone/>
            </a:pPr>
            <a:r>
              <a:rPr lang="en-US" sz="4050" dirty="0">
                <a:solidFill>
                  <a:srgbClr val="3A3A3A"/>
                </a:solidFill>
                <a:ea typeface="Noto Serif Medium" pitchFamily="34" charset="-122"/>
                <a:cs typeface="Noto Serif Medium" pitchFamily="34" charset="-120"/>
              </a:rPr>
              <a:t>Database Architecture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721638" y="1726644"/>
            <a:ext cx="2577584" cy="322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A3A3A"/>
                </a:solidFill>
                <a:ea typeface="Noto Serif Medium" pitchFamily="34" charset="-122"/>
                <a:cs typeface="Noto Serif Medium" pitchFamily="34" charset="-120"/>
              </a:rPr>
              <a:t>Core Tables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1638" y="2254925"/>
            <a:ext cx="6342102" cy="32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applicants</a:t>
            </a:r>
            <a:r>
              <a:rPr lang="en-US" sz="1600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 – Candidate profiles and details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21638" y="2656999"/>
            <a:ext cx="6342102" cy="32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applications</a:t>
            </a:r>
            <a:r>
              <a:rPr lang="en-US" sz="1600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 – Job submissions with timestamps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1638" y="3059073"/>
            <a:ext cx="6342102" cy="329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550"/>
              </a:lnSpc>
              <a:buSzPct val="100000"/>
              <a:buChar char="•"/>
            </a:pPr>
            <a:r>
              <a:rPr lang="en-US" sz="1600" b="1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interviews</a:t>
            </a:r>
            <a:r>
              <a:rPr lang="en-US" sz="1600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 – Interview scheduling and outcomes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21638" y="3574494"/>
            <a:ext cx="6342102" cy="989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4C4C4C"/>
                </a:solidFill>
                <a:ea typeface="Noto Serif" pitchFamily="34" charset="-122"/>
                <a:cs typeface="Noto Serif" pitchFamily="34" charset="-120"/>
              </a:rPr>
              <a:t>These three tables form the foundation of our data model, capturing the complete applicant journey from submission through interview.</a:t>
            </a:r>
            <a:endParaRPr lang="en-US" sz="1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0729" y="1752481"/>
            <a:ext cx="6342102" cy="63421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0742D-56D5-392E-1D66-06FA7D001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B63978-EBC5-6EC5-3C76-8474A7799DCA}"/>
              </a:ext>
            </a:extLst>
          </p:cNvPr>
          <p:cNvSpPr/>
          <p:nvPr/>
        </p:nvSpPr>
        <p:spPr>
          <a:xfrm>
            <a:off x="413147" y="324564"/>
            <a:ext cx="5767387" cy="368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SQL Query: Application Status Overview</a:t>
            </a:r>
            <a:endParaRPr lang="en-US" sz="2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EB04DC-A200-156D-EBCA-8466D80B1ED8}"/>
              </a:ext>
            </a:extLst>
          </p:cNvPr>
          <p:cNvSpPr/>
          <p:nvPr/>
        </p:nvSpPr>
        <p:spPr>
          <a:xfrm>
            <a:off x="413147" y="929521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Total applications by status across all submissions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5BB46BE-3DBE-BB03-2959-57361631DDD5}"/>
              </a:ext>
            </a:extLst>
          </p:cNvPr>
          <p:cNvSpPr/>
          <p:nvPr/>
        </p:nvSpPr>
        <p:spPr>
          <a:xfrm>
            <a:off x="413147" y="1251228"/>
            <a:ext cx="13804106" cy="932736"/>
          </a:xfrm>
          <a:prstGeom prst="roundRect">
            <a:avLst>
              <a:gd name="adj" fmla="val 5316"/>
            </a:avLst>
          </a:prstGeom>
          <a:solidFill>
            <a:srgbClr val="F0EEEA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D930549-248F-9EAC-CCE6-36A65B3D58CD}"/>
              </a:ext>
            </a:extLst>
          </p:cNvPr>
          <p:cNvSpPr/>
          <p:nvPr/>
        </p:nvSpPr>
        <p:spPr>
          <a:xfrm>
            <a:off x="407313" y="1251228"/>
            <a:ext cx="13815774" cy="932736"/>
          </a:xfrm>
          <a:prstGeom prst="roundRect">
            <a:avLst>
              <a:gd name="adj" fmla="val 1899"/>
            </a:avLst>
          </a:prstGeom>
          <a:solidFill>
            <a:srgbClr val="F0EEEA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442FB6A-CC88-86AD-4600-59072AA44B41}"/>
              </a:ext>
            </a:extLst>
          </p:cNvPr>
          <p:cNvSpPr/>
          <p:nvPr/>
        </p:nvSpPr>
        <p:spPr>
          <a:xfrm>
            <a:off x="525304" y="1339691"/>
            <a:ext cx="13579793" cy="75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C4C4C"/>
                </a:solidFill>
                <a:highlight>
                  <a:srgbClr val="F0EEE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status, COUNT(*) as total_countFROM applicationsGROUP BY statusORDER BY total_count DESC;</a:t>
            </a:r>
            <a:endParaRPr lang="en-US" sz="9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0FB5138-3F09-3460-4531-B478C9A23B96}"/>
              </a:ext>
            </a:extLst>
          </p:cNvPr>
          <p:cNvSpPr/>
          <p:nvPr/>
        </p:nvSpPr>
        <p:spPr>
          <a:xfrm>
            <a:off x="3132892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2B2722"/>
          </a:solidFill>
          <a:ln/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D4C1E76-A4B6-AE4F-14FD-E9040AA75267}"/>
              </a:ext>
            </a:extLst>
          </p:cNvPr>
          <p:cNvSpPr/>
          <p:nvPr/>
        </p:nvSpPr>
        <p:spPr>
          <a:xfrm>
            <a:off x="3311843" y="9928860"/>
            <a:ext cx="438031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Applied</a:t>
            </a:r>
            <a:endParaRPr lang="en-US" sz="9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77A9124E-232E-7233-BD53-B4C017F0475A}"/>
              </a:ext>
            </a:extLst>
          </p:cNvPr>
          <p:cNvSpPr/>
          <p:nvPr/>
        </p:nvSpPr>
        <p:spPr>
          <a:xfrm>
            <a:off x="5205889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5D554A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B2E4F86-89FA-3581-362C-10CB8AD5F8CD}"/>
              </a:ext>
            </a:extLst>
          </p:cNvPr>
          <p:cNvSpPr/>
          <p:nvPr/>
        </p:nvSpPr>
        <p:spPr>
          <a:xfrm>
            <a:off x="5384840" y="9928860"/>
            <a:ext cx="550545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Interview</a:t>
            </a:r>
            <a:endParaRPr lang="en-US" sz="9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514888E-83E3-5D86-6516-B8263CF8E23E}"/>
              </a:ext>
            </a:extLst>
          </p:cNvPr>
          <p:cNvSpPr/>
          <p:nvPr/>
        </p:nvSpPr>
        <p:spPr>
          <a:xfrm>
            <a:off x="8733115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8F847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CC51F2B-72D6-A688-1EC7-3EFB347F07A7}"/>
              </a:ext>
            </a:extLst>
          </p:cNvPr>
          <p:cNvSpPr/>
          <p:nvPr/>
        </p:nvSpPr>
        <p:spPr>
          <a:xfrm>
            <a:off x="8912066" y="9928860"/>
            <a:ext cx="474226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Rejected</a:t>
            </a:r>
            <a:endParaRPr lang="en-US" sz="9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4B662325-85E1-E877-3953-609BE23037B5}"/>
              </a:ext>
            </a:extLst>
          </p:cNvPr>
          <p:cNvSpPr/>
          <p:nvPr/>
        </p:nvSpPr>
        <p:spPr>
          <a:xfrm>
            <a:off x="10880527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B7B0A5"/>
          </a:solidFill>
          <a:ln/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F318AD4-C3E3-D1EA-1517-2536E1A45B06}"/>
              </a:ext>
            </a:extLst>
          </p:cNvPr>
          <p:cNvSpPr/>
          <p:nvPr/>
        </p:nvSpPr>
        <p:spPr>
          <a:xfrm>
            <a:off x="11059478" y="9928860"/>
            <a:ext cx="293370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Offer</a:t>
            </a:r>
            <a:endParaRPr lang="en-US" sz="9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CEAD9BE-9555-F292-9AAE-86DB5942D57A}"/>
              </a:ext>
            </a:extLst>
          </p:cNvPr>
          <p:cNvSpPr/>
          <p:nvPr/>
        </p:nvSpPr>
        <p:spPr>
          <a:xfrm>
            <a:off x="413147" y="10179725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Insight:</a:t>
            </a: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45 applications remain in progress, while 28 rejections indicate competitive screening processes requiring strategic focus.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FEC20CFD-87DB-A2F3-E866-4353CEA5B9BE}"/>
              </a:ext>
            </a:extLst>
          </p:cNvPr>
          <p:cNvSpPr/>
          <p:nvPr/>
        </p:nvSpPr>
        <p:spPr>
          <a:xfrm>
            <a:off x="793790" y="69547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Finding:</a:t>
            </a:r>
            <a:r>
              <a:rPr lang="en-US" sz="17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Large tech firms show 75% rejection rates; smaller startups average 45%, suggesting better fit potential.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C308CB-C542-5949-C2A4-28DA4F158BC3}"/>
              </a:ext>
            </a:extLst>
          </p:cNvPr>
          <p:cNvSpPr/>
          <p:nvPr/>
        </p:nvSpPr>
        <p:spPr>
          <a:xfrm>
            <a:off x="12791326" y="7633699"/>
            <a:ext cx="1839074" cy="513708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9924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5123B-9507-8EF2-D4F7-C6A1C5961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040123A-63E8-0B68-1C76-B04782063068}"/>
              </a:ext>
            </a:extLst>
          </p:cNvPr>
          <p:cNvSpPr/>
          <p:nvPr/>
        </p:nvSpPr>
        <p:spPr>
          <a:xfrm>
            <a:off x="413147" y="324564"/>
            <a:ext cx="5767387" cy="368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SQL Query: Application Status Overview</a:t>
            </a:r>
            <a:endParaRPr lang="en-US" sz="2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475F045-4D8E-C332-74D0-CADBFD612F36}"/>
              </a:ext>
            </a:extLst>
          </p:cNvPr>
          <p:cNvSpPr/>
          <p:nvPr/>
        </p:nvSpPr>
        <p:spPr>
          <a:xfrm>
            <a:off x="413147" y="929521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Total applications by status across all submissions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BD87866-BBBC-870E-BF57-9C87C4FB3187}"/>
              </a:ext>
            </a:extLst>
          </p:cNvPr>
          <p:cNvSpPr/>
          <p:nvPr/>
        </p:nvSpPr>
        <p:spPr>
          <a:xfrm>
            <a:off x="413147" y="1251228"/>
            <a:ext cx="13804106" cy="932736"/>
          </a:xfrm>
          <a:prstGeom prst="roundRect">
            <a:avLst>
              <a:gd name="adj" fmla="val 5316"/>
            </a:avLst>
          </a:prstGeom>
          <a:solidFill>
            <a:srgbClr val="F0EEEA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C1C3404-DA14-3EF1-52B6-609B572C47F9}"/>
              </a:ext>
            </a:extLst>
          </p:cNvPr>
          <p:cNvSpPr/>
          <p:nvPr/>
        </p:nvSpPr>
        <p:spPr>
          <a:xfrm>
            <a:off x="407313" y="1251228"/>
            <a:ext cx="13815774" cy="932736"/>
          </a:xfrm>
          <a:prstGeom prst="roundRect">
            <a:avLst>
              <a:gd name="adj" fmla="val 1899"/>
            </a:avLst>
          </a:prstGeom>
          <a:solidFill>
            <a:srgbClr val="F0EEEA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D918BD5-674F-D9CE-E52C-343C94359591}"/>
              </a:ext>
            </a:extLst>
          </p:cNvPr>
          <p:cNvSpPr/>
          <p:nvPr/>
        </p:nvSpPr>
        <p:spPr>
          <a:xfrm>
            <a:off x="525304" y="1339691"/>
            <a:ext cx="13579793" cy="75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C4C4C"/>
                </a:solidFill>
                <a:highlight>
                  <a:srgbClr val="F0EEE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status, COUNT(*) as total_countFROM applicationsGROUP BY statusORDER BY total_count DESC;</a:t>
            </a:r>
            <a:endParaRPr lang="en-US" sz="9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50E17B8-1C11-2B5E-52C2-A4586B05AACB}"/>
              </a:ext>
            </a:extLst>
          </p:cNvPr>
          <p:cNvSpPr/>
          <p:nvPr/>
        </p:nvSpPr>
        <p:spPr>
          <a:xfrm>
            <a:off x="3132892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2B2722"/>
          </a:solidFill>
          <a:ln/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DB7181B-31AA-2BD2-63A3-2C5EDBA490BF}"/>
              </a:ext>
            </a:extLst>
          </p:cNvPr>
          <p:cNvSpPr/>
          <p:nvPr/>
        </p:nvSpPr>
        <p:spPr>
          <a:xfrm>
            <a:off x="3311843" y="9928860"/>
            <a:ext cx="438031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Applied</a:t>
            </a:r>
            <a:endParaRPr lang="en-US" sz="9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66DEFDE8-E6FD-152E-60CA-DBA24E73BF57}"/>
              </a:ext>
            </a:extLst>
          </p:cNvPr>
          <p:cNvSpPr/>
          <p:nvPr/>
        </p:nvSpPr>
        <p:spPr>
          <a:xfrm>
            <a:off x="5205889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5D554A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0F74EDE-20B7-9C29-41CF-F31AD0BDD84E}"/>
              </a:ext>
            </a:extLst>
          </p:cNvPr>
          <p:cNvSpPr/>
          <p:nvPr/>
        </p:nvSpPr>
        <p:spPr>
          <a:xfrm>
            <a:off x="5384840" y="9928860"/>
            <a:ext cx="550545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Interview</a:t>
            </a:r>
            <a:endParaRPr lang="en-US" sz="9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71B2D15-C5BA-092E-7774-ABC70E09C68B}"/>
              </a:ext>
            </a:extLst>
          </p:cNvPr>
          <p:cNvSpPr/>
          <p:nvPr/>
        </p:nvSpPr>
        <p:spPr>
          <a:xfrm>
            <a:off x="8733115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8F847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24F5655-1576-AB66-69C3-124010627883}"/>
              </a:ext>
            </a:extLst>
          </p:cNvPr>
          <p:cNvSpPr/>
          <p:nvPr/>
        </p:nvSpPr>
        <p:spPr>
          <a:xfrm>
            <a:off x="8912066" y="9928860"/>
            <a:ext cx="474226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Rejected</a:t>
            </a:r>
            <a:endParaRPr lang="en-US" sz="9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04CAEDE-B29C-5980-E9EE-A7C4C99CC844}"/>
              </a:ext>
            </a:extLst>
          </p:cNvPr>
          <p:cNvSpPr/>
          <p:nvPr/>
        </p:nvSpPr>
        <p:spPr>
          <a:xfrm>
            <a:off x="10880527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B7B0A5"/>
          </a:solidFill>
          <a:ln/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41192ED3-EB61-A373-6E53-AF6FD7322F4F}"/>
              </a:ext>
            </a:extLst>
          </p:cNvPr>
          <p:cNvSpPr/>
          <p:nvPr/>
        </p:nvSpPr>
        <p:spPr>
          <a:xfrm>
            <a:off x="11059478" y="9928860"/>
            <a:ext cx="293370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Offer</a:t>
            </a:r>
            <a:endParaRPr lang="en-US" sz="9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F613778-8016-D768-A646-DBA1DD925214}"/>
              </a:ext>
            </a:extLst>
          </p:cNvPr>
          <p:cNvSpPr/>
          <p:nvPr/>
        </p:nvSpPr>
        <p:spPr>
          <a:xfrm>
            <a:off x="413147" y="10179725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Insight:</a:t>
            </a: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45 applications remain in progress, while 28 rejections indicate competitive screening processes requiring strategic focus.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05FC32EA-C67D-4EE0-6800-5DAF15A381B9}"/>
              </a:ext>
            </a:extLst>
          </p:cNvPr>
          <p:cNvSpPr/>
          <p:nvPr/>
        </p:nvSpPr>
        <p:spPr>
          <a:xfrm>
            <a:off x="793790" y="69547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Finding:</a:t>
            </a:r>
            <a:r>
              <a:rPr lang="en-US" sz="17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Large tech firms show 75% rejection rates; smaller startups average 45%, suggesting better fit potential.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EC0F95-6ADD-DC06-A229-BEEED73A386A}"/>
              </a:ext>
            </a:extLst>
          </p:cNvPr>
          <p:cNvSpPr/>
          <p:nvPr/>
        </p:nvSpPr>
        <p:spPr>
          <a:xfrm>
            <a:off x="12791326" y="7633699"/>
            <a:ext cx="1839074" cy="513708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1459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434B5-BCB9-9AD7-8925-490F2FA6B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52C36AA-415D-8209-EB62-8AA031F0D493}"/>
              </a:ext>
            </a:extLst>
          </p:cNvPr>
          <p:cNvSpPr/>
          <p:nvPr/>
        </p:nvSpPr>
        <p:spPr>
          <a:xfrm>
            <a:off x="413147" y="324564"/>
            <a:ext cx="5767387" cy="368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SQL Query: Application Status Overview</a:t>
            </a:r>
            <a:endParaRPr lang="en-US" sz="2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480529C-FB45-3373-1DE4-F9288A155919}"/>
              </a:ext>
            </a:extLst>
          </p:cNvPr>
          <p:cNvSpPr/>
          <p:nvPr/>
        </p:nvSpPr>
        <p:spPr>
          <a:xfrm>
            <a:off x="413147" y="929521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Total applications by status across all submissions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2F24C2A-0DC0-21C2-FB0B-A0B6B968CE7B}"/>
              </a:ext>
            </a:extLst>
          </p:cNvPr>
          <p:cNvSpPr/>
          <p:nvPr/>
        </p:nvSpPr>
        <p:spPr>
          <a:xfrm>
            <a:off x="413147" y="1251228"/>
            <a:ext cx="13804106" cy="932736"/>
          </a:xfrm>
          <a:prstGeom prst="roundRect">
            <a:avLst>
              <a:gd name="adj" fmla="val 5316"/>
            </a:avLst>
          </a:prstGeom>
          <a:solidFill>
            <a:srgbClr val="F0EEEA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B5AB4BF-32DF-C86E-7733-B107ADA94CDA}"/>
              </a:ext>
            </a:extLst>
          </p:cNvPr>
          <p:cNvSpPr/>
          <p:nvPr/>
        </p:nvSpPr>
        <p:spPr>
          <a:xfrm>
            <a:off x="407313" y="1251228"/>
            <a:ext cx="13815774" cy="932736"/>
          </a:xfrm>
          <a:prstGeom prst="roundRect">
            <a:avLst>
              <a:gd name="adj" fmla="val 1899"/>
            </a:avLst>
          </a:prstGeom>
          <a:solidFill>
            <a:srgbClr val="F0EEEA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4400DB4-F85D-AF79-2C69-DB599C2C8E77}"/>
              </a:ext>
            </a:extLst>
          </p:cNvPr>
          <p:cNvSpPr/>
          <p:nvPr/>
        </p:nvSpPr>
        <p:spPr>
          <a:xfrm>
            <a:off x="525304" y="1339691"/>
            <a:ext cx="13579793" cy="75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C4C4C"/>
                </a:solidFill>
                <a:highlight>
                  <a:srgbClr val="F0EEE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status, COUNT(*) as total_countFROM applicationsGROUP BY statusORDER BY total_count DESC;</a:t>
            </a:r>
            <a:endParaRPr lang="en-US" sz="9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F32FC4B-DAA5-A8D4-A4D4-E7E3CBCD989D}"/>
              </a:ext>
            </a:extLst>
          </p:cNvPr>
          <p:cNvSpPr/>
          <p:nvPr/>
        </p:nvSpPr>
        <p:spPr>
          <a:xfrm>
            <a:off x="3132892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2B2722"/>
          </a:solidFill>
          <a:ln/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0451E5E-A633-BE42-8AC8-83A74DB3ED58}"/>
              </a:ext>
            </a:extLst>
          </p:cNvPr>
          <p:cNvSpPr/>
          <p:nvPr/>
        </p:nvSpPr>
        <p:spPr>
          <a:xfrm>
            <a:off x="3311843" y="9928860"/>
            <a:ext cx="438031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Applied</a:t>
            </a:r>
            <a:endParaRPr lang="en-US" sz="9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25C6A524-A66C-AF16-4762-9B1D10A3D8D6}"/>
              </a:ext>
            </a:extLst>
          </p:cNvPr>
          <p:cNvSpPr/>
          <p:nvPr/>
        </p:nvSpPr>
        <p:spPr>
          <a:xfrm>
            <a:off x="5205889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5D554A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ACC0833-12DD-6EA1-E6F0-486E1B59B0DA}"/>
              </a:ext>
            </a:extLst>
          </p:cNvPr>
          <p:cNvSpPr/>
          <p:nvPr/>
        </p:nvSpPr>
        <p:spPr>
          <a:xfrm>
            <a:off x="5384840" y="9928860"/>
            <a:ext cx="550545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Interview</a:t>
            </a:r>
            <a:endParaRPr lang="en-US" sz="9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8C8540F4-4AAF-8B40-12C6-44A4EE4CDC72}"/>
              </a:ext>
            </a:extLst>
          </p:cNvPr>
          <p:cNvSpPr/>
          <p:nvPr/>
        </p:nvSpPr>
        <p:spPr>
          <a:xfrm>
            <a:off x="8733115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8F847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648D478-9DD5-F928-F9E1-CE37F40BAD03}"/>
              </a:ext>
            </a:extLst>
          </p:cNvPr>
          <p:cNvSpPr/>
          <p:nvPr/>
        </p:nvSpPr>
        <p:spPr>
          <a:xfrm>
            <a:off x="8912066" y="9928860"/>
            <a:ext cx="474226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Rejected</a:t>
            </a:r>
            <a:endParaRPr lang="en-US" sz="9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9E80AE4E-3C69-01D1-4C50-B8042D8C6E47}"/>
              </a:ext>
            </a:extLst>
          </p:cNvPr>
          <p:cNvSpPr/>
          <p:nvPr/>
        </p:nvSpPr>
        <p:spPr>
          <a:xfrm>
            <a:off x="10880527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B7B0A5"/>
          </a:solidFill>
          <a:ln/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82C44985-46AD-DECD-3C0F-799D2C14041F}"/>
              </a:ext>
            </a:extLst>
          </p:cNvPr>
          <p:cNvSpPr/>
          <p:nvPr/>
        </p:nvSpPr>
        <p:spPr>
          <a:xfrm>
            <a:off x="11059478" y="9928860"/>
            <a:ext cx="293370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Offer</a:t>
            </a:r>
            <a:endParaRPr lang="en-US" sz="9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5018E31C-D6AC-7D60-D9D2-903A9440C0DB}"/>
              </a:ext>
            </a:extLst>
          </p:cNvPr>
          <p:cNvSpPr/>
          <p:nvPr/>
        </p:nvSpPr>
        <p:spPr>
          <a:xfrm>
            <a:off x="413147" y="10179725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Insight:</a:t>
            </a: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45 applications remain in progress, while 28 rejections indicate competitive screening processes requiring strategic focus.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D247B2D8-267C-6B40-3F62-A724128C4F28}"/>
              </a:ext>
            </a:extLst>
          </p:cNvPr>
          <p:cNvSpPr/>
          <p:nvPr/>
        </p:nvSpPr>
        <p:spPr>
          <a:xfrm>
            <a:off x="793790" y="69547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Finding:</a:t>
            </a:r>
            <a:r>
              <a:rPr lang="en-US" sz="17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Large tech firms show 75% rejection rates; smaller startups average 45%, suggesting better fit potential.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6EF9C-A076-D308-45E6-A2639301AF41}"/>
              </a:ext>
            </a:extLst>
          </p:cNvPr>
          <p:cNvSpPr/>
          <p:nvPr/>
        </p:nvSpPr>
        <p:spPr>
          <a:xfrm>
            <a:off x="12791326" y="7633699"/>
            <a:ext cx="1839074" cy="513708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0451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F7A17-1A75-C04E-7641-61F4C38CE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755023C-146F-347A-B85A-4F62E7F8D74E}"/>
              </a:ext>
            </a:extLst>
          </p:cNvPr>
          <p:cNvSpPr/>
          <p:nvPr/>
        </p:nvSpPr>
        <p:spPr>
          <a:xfrm>
            <a:off x="413147" y="324564"/>
            <a:ext cx="5767387" cy="368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SQL Query: Application Status Overview</a:t>
            </a:r>
            <a:endParaRPr lang="en-US" sz="2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1F82950-DD9F-770E-A209-2DBA70300EA1}"/>
              </a:ext>
            </a:extLst>
          </p:cNvPr>
          <p:cNvSpPr/>
          <p:nvPr/>
        </p:nvSpPr>
        <p:spPr>
          <a:xfrm>
            <a:off x="413147" y="929521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Total applications by status across all submissions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DE095C4-36DA-CCEC-BCB4-BB7517D4E909}"/>
              </a:ext>
            </a:extLst>
          </p:cNvPr>
          <p:cNvSpPr/>
          <p:nvPr/>
        </p:nvSpPr>
        <p:spPr>
          <a:xfrm>
            <a:off x="413147" y="1251228"/>
            <a:ext cx="13804106" cy="932736"/>
          </a:xfrm>
          <a:prstGeom prst="roundRect">
            <a:avLst>
              <a:gd name="adj" fmla="val 5316"/>
            </a:avLst>
          </a:prstGeom>
          <a:solidFill>
            <a:srgbClr val="F0EEEA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8281F08-1D0F-B848-5C54-0C13F45DE900}"/>
              </a:ext>
            </a:extLst>
          </p:cNvPr>
          <p:cNvSpPr/>
          <p:nvPr/>
        </p:nvSpPr>
        <p:spPr>
          <a:xfrm>
            <a:off x="407313" y="1251228"/>
            <a:ext cx="13815774" cy="932736"/>
          </a:xfrm>
          <a:prstGeom prst="roundRect">
            <a:avLst>
              <a:gd name="adj" fmla="val 1899"/>
            </a:avLst>
          </a:prstGeom>
          <a:solidFill>
            <a:srgbClr val="F0EEEA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FE3F206-478A-1A6C-9D50-2D403CF761D7}"/>
              </a:ext>
            </a:extLst>
          </p:cNvPr>
          <p:cNvSpPr/>
          <p:nvPr/>
        </p:nvSpPr>
        <p:spPr>
          <a:xfrm>
            <a:off x="525304" y="1339691"/>
            <a:ext cx="13579793" cy="75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C4C4C"/>
                </a:solidFill>
                <a:highlight>
                  <a:srgbClr val="F0EEE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status, COUNT(*) as total_countFROM applicationsGROUP BY statusORDER BY total_count DESC;</a:t>
            </a:r>
            <a:endParaRPr lang="en-US" sz="9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EB2F2C0-1C07-1046-CF21-74243D59EA71}"/>
              </a:ext>
            </a:extLst>
          </p:cNvPr>
          <p:cNvSpPr/>
          <p:nvPr/>
        </p:nvSpPr>
        <p:spPr>
          <a:xfrm>
            <a:off x="3132892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2B2722"/>
          </a:solidFill>
          <a:ln/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E21C803-36D5-107A-67E1-EDC94873373F}"/>
              </a:ext>
            </a:extLst>
          </p:cNvPr>
          <p:cNvSpPr/>
          <p:nvPr/>
        </p:nvSpPr>
        <p:spPr>
          <a:xfrm>
            <a:off x="3311843" y="9928860"/>
            <a:ext cx="438031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Applied</a:t>
            </a:r>
            <a:endParaRPr lang="en-US" sz="9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7B398F7-6A69-18A5-5BF5-F8D9DB79FE95}"/>
              </a:ext>
            </a:extLst>
          </p:cNvPr>
          <p:cNvSpPr/>
          <p:nvPr/>
        </p:nvSpPr>
        <p:spPr>
          <a:xfrm>
            <a:off x="5205889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5D554A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884E397D-2E29-343E-84BD-513F0CF09A92}"/>
              </a:ext>
            </a:extLst>
          </p:cNvPr>
          <p:cNvSpPr/>
          <p:nvPr/>
        </p:nvSpPr>
        <p:spPr>
          <a:xfrm>
            <a:off x="5384840" y="9928860"/>
            <a:ext cx="550545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Interview</a:t>
            </a:r>
            <a:endParaRPr lang="en-US" sz="9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C3D0BA0-93C6-EE20-0546-CA2E945B1ECB}"/>
              </a:ext>
            </a:extLst>
          </p:cNvPr>
          <p:cNvSpPr/>
          <p:nvPr/>
        </p:nvSpPr>
        <p:spPr>
          <a:xfrm>
            <a:off x="8733115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8F847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B4B2EF6-C291-1DA1-F9E8-C1F2886FBDA1}"/>
              </a:ext>
            </a:extLst>
          </p:cNvPr>
          <p:cNvSpPr/>
          <p:nvPr/>
        </p:nvSpPr>
        <p:spPr>
          <a:xfrm>
            <a:off x="8912066" y="9928860"/>
            <a:ext cx="474226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Rejected</a:t>
            </a:r>
            <a:endParaRPr lang="en-US" sz="9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AC86271C-B284-AF97-3C71-A6B3F4C677BF}"/>
              </a:ext>
            </a:extLst>
          </p:cNvPr>
          <p:cNvSpPr/>
          <p:nvPr/>
        </p:nvSpPr>
        <p:spPr>
          <a:xfrm>
            <a:off x="10880527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B7B0A5"/>
          </a:solidFill>
          <a:ln/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4FE581E-E307-0A24-6353-751893A5B996}"/>
              </a:ext>
            </a:extLst>
          </p:cNvPr>
          <p:cNvSpPr/>
          <p:nvPr/>
        </p:nvSpPr>
        <p:spPr>
          <a:xfrm>
            <a:off x="11059478" y="9928860"/>
            <a:ext cx="293370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Offer</a:t>
            </a:r>
            <a:endParaRPr lang="en-US" sz="9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C7825C2-3AF9-F48E-9AC1-5BA5CA1525BF}"/>
              </a:ext>
            </a:extLst>
          </p:cNvPr>
          <p:cNvSpPr/>
          <p:nvPr/>
        </p:nvSpPr>
        <p:spPr>
          <a:xfrm>
            <a:off x="413147" y="10179725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Insight:</a:t>
            </a: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45 applications remain in progress, while 28 rejections indicate competitive screening processes requiring strategic focus.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67897BD9-B406-610E-56DE-55AECB73C736}"/>
              </a:ext>
            </a:extLst>
          </p:cNvPr>
          <p:cNvSpPr/>
          <p:nvPr/>
        </p:nvSpPr>
        <p:spPr>
          <a:xfrm>
            <a:off x="793790" y="69547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Finding:</a:t>
            </a:r>
            <a:r>
              <a:rPr lang="en-US" sz="17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Large tech firms show 75% rejection rates; smaller startups average 45%, suggesting better fit potential.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E96A99-7EBD-8814-C964-47D5A71C4F6F}"/>
              </a:ext>
            </a:extLst>
          </p:cNvPr>
          <p:cNvSpPr/>
          <p:nvPr/>
        </p:nvSpPr>
        <p:spPr>
          <a:xfrm>
            <a:off x="12791326" y="7633699"/>
            <a:ext cx="1839074" cy="513708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0716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99E8E-6452-52F6-A36C-3D7420922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50D5D7B-277A-3E8B-73F4-0A94758CF91F}"/>
              </a:ext>
            </a:extLst>
          </p:cNvPr>
          <p:cNvSpPr/>
          <p:nvPr/>
        </p:nvSpPr>
        <p:spPr>
          <a:xfrm>
            <a:off x="413147" y="324564"/>
            <a:ext cx="5767387" cy="368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SQL Query: Application Status Overview</a:t>
            </a:r>
            <a:endParaRPr lang="en-US" sz="2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5E7B239-3028-1252-860C-48BFC90BE51E}"/>
              </a:ext>
            </a:extLst>
          </p:cNvPr>
          <p:cNvSpPr/>
          <p:nvPr/>
        </p:nvSpPr>
        <p:spPr>
          <a:xfrm>
            <a:off x="413147" y="929521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Total applications by status across all submissions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CED8AC-A4D3-BD3F-61E6-85A0FB5556AD}"/>
              </a:ext>
            </a:extLst>
          </p:cNvPr>
          <p:cNvSpPr/>
          <p:nvPr/>
        </p:nvSpPr>
        <p:spPr>
          <a:xfrm>
            <a:off x="413147" y="1251228"/>
            <a:ext cx="13804106" cy="932736"/>
          </a:xfrm>
          <a:prstGeom prst="roundRect">
            <a:avLst>
              <a:gd name="adj" fmla="val 5316"/>
            </a:avLst>
          </a:prstGeom>
          <a:solidFill>
            <a:srgbClr val="F0EEEA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BB541A7-7847-AED4-6AD9-30AA2485C692}"/>
              </a:ext>
            </a:extLst>
          </p:cNvPr>
          <p:cNvSpPr/>
          <p:nvPr/>
        </p:nvSpPr>
        <p:spPr>
          <a:xfrm>
            <a:off x="407313" y="1251228"/>
            <a:ext cx="13815774" cy="932736"/>
          </a:xfrm>
          <a:prstGeom prst="roundRect">
            <a:avLst>
              <a:gd name="adj" fmla="val 1899"/>
            </a:avLst>
          </a:prstGeom>
          <a:solidFill>
            <a:srgbClr val="F0EEEA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DF460E2-8F69-39DE-83BC-20C07BCE3658}"/>
              </a:ext>
            </a:extLst>
          </p:cNvPr>
          <p:cNvSpPr/>
          <p:nvPr/>
        </p:nvSpPr>
        <p:spPr>
          <a:xfrm>
            <a:off x="525304" y="1339691"/>
            <a:ext cx="13579793" cy="75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C4C4C"/>
                </a:solidFill>
                <a:highlight>
                  <a:srgbClr val="F0EEE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status, COUNT(*) as total_countFROM applicationsGROUP BY statusORDER BY total_count DESC;</a:t>
            </a:r>
            <a:endParaRPr lang="en-US" sz="9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A7B3447-53A1-7707-49A3-B87628AEC609}"/>
              </a:ext>
            </a:extLst>
          </p:cNvPr>
          <p:cNvSpPr/>
          <p:nvPr/>
        </p:nvSpPr>
        <p:spPr>
          <a:xfrm>
            <a:off x="3132892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2B2722"/>
          </a:solidFill>
          <a:ln/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5165C81-D6F8-044C-C5D4-2AE85FA04FFA}"/>
              </a:ext>
            </a:extLst>
          </p:cNvPr>
          <p:cNvSpPr/>
          <p:nvPr/>
        </p:nvSpPr>
        <p:spPr>
          <a:xfrm>
            <a:off x="3311843" y="9928860"/>
            <a:ext cx="438031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Applied</a:t>
            </a:r>
            <a:endParaRPr lang="en-US" sz="9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004E8C6-8951-4F3A-A24C-50BC83AB414E}"/>
              </a:ext>
            </a:extLst>
          </p:cNvPr>
          <p:cNvSpPr/>
          <p:nvPr/>
        </p:nvSpPr>
        <p:spPr>
          <a:xfrm>
            <a:off x="5205889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5D554A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DD4E0F8-72D5-E5C7-6025-2BEFE36E6130}"/>
              </a:ext>
            </a:extLst>
          </p:cNvPr>
          <p:cNvSpPr/>
          <p:nvPr/>
        </p:nvSpPr>
        <p:spPr>
          <a:xfrm>
            <a:off x="5384840" y="9928860"/>
            <a:ext cx="550545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Interview</a:t>
            </a:r>
            <a:endParaRPr lang="en-US" sz="9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3AB9C2E-7448-80EE-C293-EF1967461D16}"/>
              </a:ext>
            </a:extLst>
          </p:cNvPr>
          <p:cNvSpPr/>
          <p:nvPr/>
        </p:nvSpPr>
        <p:spPr>
          <a:xfrm>
            <a:off x="8733115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8F847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BF78CFE-A29D-8FA9-A9A8-4145A1212B04}"/>
              </a:ext>
            </a:extLst>
          </p:cNvPr>
          <p:cNvSpPr/>
          <p:nvPr/>
        </p:nvSpPr>
        <p:spPr>
          <a:xfrm>
            <a:off x="8912066" y="9928860"/>
            <a:ext cx="474226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Rejected</a:t>
            </a:r>
            <a:endParaRPr lang="en-US" sz="9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C083CB66-922E-0455-E0C9-A9BF049479D9}"/>
              </a:ext>
            </a:extLst>
          </p:cNvPr>
          <p:cNvSpPr/>
          <p:nvPr/>
        </p:nvSpPr>
        <p:spPr>
          <a:xfrm>
            <a:off x="10880527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B7B0A5"/>
          </a:solidFill>
          <a:ln/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0DAD13DE-DF36-EDB3-F74E-70DB413D67FF}"/>
              </a:ext>
            </a:extLst>
          </p:cNvPr>
          <p:cNvSpPr/>
          <p:nvPr/>
        </p:nvSpPr>
        <p:spPr>
          <a:xfrm>
            <a:off x="11059478" y="9928860"/>
            <a:ext cx="293370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Offer</a:t>
            </a:r>
            <a:endParaRPr lang="en-US" sz="9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49BDD4F-AF51-E69C-7B8E-34C3DA4089AC}"/>
              </a:ext>
            </a:extLst>
          </p:cNvPr>
          <p:cNvSpPr/>
          <p:nvPr/>
        </p:nvSpPr>
        <p:spPr>
          <a:xfrm>
            <a:off x="413147" y="10179725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Insight:</a:t>
            </a: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45 applications remain in progress, while 28 rejections indicate competitive screening processes requiring strategic focus.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16A3F665-AD9C-AC64-DF51-94905FA70047}"/>
              </a:ext>
            </a:extLst>
          </p:cNvPr>
          <p:cNvSpPr/>
          <p:nvPr/>
        </p:nvSpPr>
        <p:spPr>
          <a:xfrm>
            <a:off x="793790" y="69547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Finding:</a:t>
            </a:r>
            <a:r>
              <a:rPr lang="en-US" sz="17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Large tech firms show 75% rejection rates; smaller startups average 45%, suggesting better fit potential.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80B976-F166-078B-1AD8-4D9ABB85AFCE}"/>
              </a:ext>
            </a:extLst>
          </p:cNvPr>
          <p:cNvSpPr/>
          <p:nvPr/>
        </p:nvSpPr>
        <p:spPr>
          <a:xfrm>
            <a:off x="12791326" y="7633699"/>
            <a:ext cx="1839074" cy="513708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9773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C2011-E5AD-F3DB-6EB3-E587B8A8E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2B7B24B-7A78-5E65-7F1F-9686209EE0B7}"/>
              </a:ext>
            </a:extLst>
          </p:cNvPr>
          <p:cNvSpPr/>
          <p:nvPr/>
        </p:nvSpPr>
        <p:spPr>
          <a:xfrm>
            <a:off x="413147" y="324564"/>
            <a:ext cx="5767387" cy="368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SQL Query: Application Status Overview</a:t>
            </a:r>
            <a:endParaRPr lang="en-US" sz="2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2829EC0-A3D9-E092-3692-9F8E7BD49509}"/>
              </a:ext>
            </a:extLst>
          </p:cNvPr>
          <p:cNvSpPr/>
          <p:nvPr/>
        </p:nvSpPr>
        <p:spPr>
          <a:xfrm>
            <a:off x="413147" y="929521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Total applications by status across all submissions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8740606-9321-6263-1BC4-E8C86D020F15}"/>
              </a:ext>
            </a:extLst>
          </p:cNvPr>
          <p:cNvSpPr/>
          <p:nvPr/>
        </p:nvSpPr>
        <p:spPr>
          <a:xfrm>
            <a:off x="413147" y="1251228"/>
            <a:ext cx="13804106" cy="932736"/>
          </a:xfrm>
          <a:prstGeom prst="roundRect">
            <a:avLst>
              <a:gd name="adj" fmla="val 5316"/>
            </a:avLst>
          </a:prstGeom>
          <a:solidFill>
            <a:srgbClr val="F0EEEA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13F40DA-1EB4-4562-2F82-F0569849246B}"/>
              </a:ext>
            </a:extLst>
          </p:cNvPr>
          <p:cNvSpPr/>
          <p:nvPr/>
        </p:nvSpPr>
        <p:spPr>
          <a:xfrm>
            <a:off x="407313" y="1251228"/>
            <a:ext cx="13815774" cy="932736"/>
          </a:xfrm>
          <a:prstGeom prst="roundRect">
            <a:avLst>
              <a:gd name="adj" fmla="val 1899"/>
            </a:avLst>
          </a:prstGeom>
          <a:solidFill>
            <a:srgbClr val="F0EEEA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AC41AC1-354F-1548-05C7-BBCE7DFA5432}"/>
              </a:ext>
            </a:extLst>
          </p:cNvPr>
          <p:cNvSpPr/>
          <p:nvPr/>
        </p:nvSpPr>
        <p:spPr>
          <a:xfrm>
            <a:off x="525304" y="1339691"/>
            <a:ext cx="13579793" cy="75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C4C4C"/>
                </a:solidFill>
                <a:highlight>
                  <a:srgbClr val="F0EEE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status, COUNT(*) as total_countFROM applicationsGROUP BY statusORDER BY total_count DESC;</a:t>
            </a:r>
            <a:endParaRPr lang="en-US" sz="9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E32C15C-2461-E199-A886-8614497ECC15}"/>
              </a:ext>
            </a:extLst>
          </p:cNvPr>
          <p:cNvSpPr/>
          <p:nvPr/>
        </p:nvSpPr>
        <p:spPr>
          <a:xfrm>
            <a:off x="3132892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2B2722"/>
          </a:solidFill>
          <a:ln/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CA261A9-D412-DA91-3DF2-648F9720FB36}"/>
              </a:ext>
            </a:extLst>
          </p:cNvPr>
          <p:cNvSpPr/>
          <p:nvPr/>
        </p:nvSpPr>
        <p:spPr>
          <a:xfrm>
            <a:off x="3311843" y="9928860"/>
            <a:ext cx="438031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Applied</a:t>
            </a:r>
            <a:endParaRPr lang="en-US" sz="9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AD47CA2-7C9B-7B45-66A4-C066CAD96387}"/>
              </a:ext>
            </a:extLst>
          </p:cNvPr>
          <p:cNvSpPr/>
          <p:nvPr/>
        </p:nvSpPr>
        <p:spPr>
          <a:xfrm>
            <a:off x="5205889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5D554A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3E859558-50B1-FCF7-EA92-B400C6281649}"/>
              </a:ext>
            </a:extLst>
          </p:cNvPr>
          <p:cNvSpPr/>
          <p:nvPr/>
        </p:nvSpPr>
        <p:spPr>
          <a:xfrm>
            <a:off x="5384840" y="9928860"/>
            <a:ext cx="550545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Interview</a:t>
            </a:r>
            <a:endParaRPr lang="en-US" sz="9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CA1C19EE-54CB-6223-5BE1-5F2A9B154928}"/>
              </a:ext>
            </a:extLst>
          </p:cNvPr>
          <p:cNvSpPr/>
          <p:nvPr/>
        </p:nvSpPr>
        <p:spPr>
          <a:xfrm>
            <a:off x="8733115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8F847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BFA3908-EA79-ABB4-237B-DD5E8EADDE91}"/>
              </a:ext>
            </a:extLst>
          </p:cNvPr>
          <p:cNvSpPr/>
          <p:nvPr/>
        </p:nvSpPr>
        <p:spPr>
          <a:xfrm>
            <a:off x="8912066" y="9928860"/>
            <a:ext cx="474226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Rejected</a:t>
            </a:r>
            <a:endParaRPr lang="en-US" sz="9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3DC25551-3E05-186E-8A79-F8CF435B11B1}"/>
              </a:ext>
            </a:extLst>
          </p:cNvPr>
          <p:cNvSpPr/>
          <p:nvPr/>
        </p:nvSpPr>
        <p:spPr>
          <a:xfrm>
            <a:off x="10880527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B7B0A5"/>
          </a:solidFill>
          <a:ln/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F46C7E7-89F3-2541-E7A4-DDECCB5C2646}"/>
              </a:ext>
            </a:extLst>
          </p:cNvPr>
          <p:cNvSpPr/>
          <p:nvPr/>
        </p:nvSpPr>
        <p:spPr>
          <a:xfrm>
            <a:off x="11059478" y="9928860"/>
            <a:ext cx="293370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Offer</a:t>
            </a:r>
            <a:endParaRPr lang="en-US" sz="9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424E4FD-543E-F671-B8EB-C68C7DF5D12C}"/>
              </a:ext>
            </a:extLst>
          </p:cNvPr>
          <p:cNvSpPr/>
          <p:nvPr/>
        </p:nvSpPr>
        <p:spPr>
          <a:xfrm>
            <a:off x="413147" y="10179725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Insight:</a:t>
            </a: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45 applications remain in progress, while 28 rejections indicate competitive screening processes requiring strategic focus.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7F56BAA0-3BCF-DD5D-3397-DF6C65F78E9D}"/>
              </a:ext>
            </a:extLst>
          </p:cNvPr>
          <p:cNvSpPr/>
          <p:nvPr/>
        </p:nvSpPr>
        <p:spPr>
          <a:xfrm>
            <a:off x="793790" y="69547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Finding:</a:t>
            </a:r>
            <a:r>
              <a:rPr lang="en-US" sz="17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Large tech firms show 75% rejection rates; smaller startups average 45%, suggesting better fit potential.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03835C-BE29-691C-912F-5956F26BB0A8}"/>
              </a:ext>
            </a:extLst>
          </p:cNvPr>
          <p:cNvSpPr/>
          <p:nvPr/>
        </p:nvSpPr>
        <p:spPr>
          <a:xfrm>
            <a:off x="12791326" y="7633699"/>
            <a:ext cx="1839074" cy="513708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3654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F9476-1530-8117-2AF6-30473F1F3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BD93AC8-5A3C-8581-A46B-662340EA3509}"/>
              </a:ext>
            </a:extLst>
          </p:cNvPr>
          <p:cNvSpPr/>
          <p:nvPr/>
        </p:nvSpPr>
        <p:spPr>
          <a:xfrm>
            <a:off x="413147" y="324564"/>
            <a:ext cx="5767387" cy="368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3A3A3A"/>
                </a:solidFill>
                <a:latin typeface="Noto Serif Medium" pitchFamily="34" charset="0"/>
                <a:ea typeface="Noto Serif Medium" pitchFamily="34" charset="-122"/>
                <a:cs typeface="Noto Serif Medium" pitchFamily="34" charset="-120"/>
              </a:rPr>
              <a:t>SQL Query: Application Status Overview</a:t>
            </a:r>
            <a:endParaRPr lang="en-US" sz="2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9223F14-1197-048B-D5C4-10BBED4C8B6D}"/>
              </a:ext>
            </a:extLst>
          </p:cNvPr>
          <p:cNvSpPr/>
          <p:nvPr/>
        </p:nvSpPr>
        <p:spPr>
          <a:xfrm>
            <a:off x="413147" y="929521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Total applications by status across all submissions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1ED1302-326B-2D59-862C-8186A9F3FFEF}"/>
              </a:ext>
            </a:extLst>
          </p:cNvPr>
          <p:cNvSpPr/>
          <p:nvPr/>
        </p:nvSpPr>
        <p:spPr>
          <a:xfrm>
            <a:off x="413147" y="1251228"/>
            <a:ext cx="13804106" cy="932736"/>
          </a:xfrm>
          <a:prstGeom prst="roundRect">
            <a:avLst>
              <a:gd name="adj" fmla="val 5316"/>
            </a:avLst>
          </a:prstGeom>
          <a:solidFill>
            <a:srgbClr val="F0EEEA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3F10A0B-7A8D-0585-0837-BE9466089377}"/>
              </a:ext>
            </a:extLst>
          </p:cNvPr>
          <p:cNvSpPr/>
          <p:nvPr/>
        </p:nvSpPr>
        <p:spPr>
          <a:xfrm>
            <a:off x="407313" y="1251228"/>
            <a:ext cx="13815774" cy="932736"/>
          </a:xfrm>
          <a:prstGeom prst="roundRect">
            <a:avLst>
              <a:gd name="adj" fmla="val 1899"/>
            </a:avLst>
          </a:prstGeom>
          <a:solidFill>
            <a:srgbClr val="F0EEEA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621515-4659-4350-478A-9136B4112330}"/>
              </a:ext>
            </a:extLst>
          </p:cNvPr>
          <p:cNvSpPr/>
          <p:nvPr/>
        </p:nvSpPr>
        <p:spPr>
          <a:xfrm>
            <a:off x="525304" y="1339691"/>
            <a:ext cx="13579793" cy="755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4C4C4C"/>
                </a:solidFill>
                <a:highlight>
                  <a:srgbClr val="F0EEEA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status, COUNT(*) as total_countFROM applicationsGROUP BY statusORDER BY total_count DESC;</a:t>
            </a:r>
            <a:endParaRPr lang="en-US" sz="9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F04600AF-ADE6-8B12-CC00-8B0F74DFC728}"/>
              </a:ext>
            </a:extLst>
          </p:cNvPr>
          <p:cNvSpPr/>
          <p:nvPr/>
        </p:nvSpPr>
        <p:spPr>
          <a:xfrm>
            <a:off x="3132892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2B2722"/>
          </a:solidFill>
          <a:ln/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5828537-2B11-C025-4CBB-07EDBD1B52B8}"/>
              </a:ext>
            </a:extLst>
          </p:cNvPr>
          <p:cNvSpPr/>
          <p:nvPr/>
        </p:nvSpPr>
        <p:spPr>
          <a:xfrm>
            <a:off x="3311843" y="9928860"/>
            <a:ext cx="438031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Applied</a:t>
            </a:r>
            <a:endParaRPr lang="en-US" sz="9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54F4021B-5ACA-FA45-1709-8DBB1966EF60}"/>
              </a:ext>
            </a:extLst>
          </p:cNvPr>
          <p:cNvSpPr/>
          <p:nvPr/>
        </p:nvSpPr>
        <p:spPr>
          <a:xfrm>
            <a:off x="5205889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5D554A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A723E5-EF13-D4BE-DEF5-20AEBE7AF7CF}"/>
              </a:ext>
            </a:extLst>
          </p:cNvPr>
          <p:cNvSpPr/>
          <p:nvPr/>
        </p:nvSpPr>
        <p:spPr>
          <a:xfrm>
            <a:off x="5384840" y="9928860"/>
            <a:ext cx="550545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Interview</a:t>
            </a:r>
            <a:endParaRPr lang="en-US" sz="9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785F6E9-ABB2-1E38-E43A-DF9AB9F52C26}"/>
              </a:ext>
            </a:extLst>
          </p:cNvPr>
          <p:cNvSpPr/>
          <p:nvPr/>
        </p:nvSpPr>
        <p:spPr>
          <a:xfrm>
            <a:off x="8733115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8F8473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173FA5B-1ABC-F86D-C5D1-0EBB25A80F59}"/>
              </a:ext>
            </a:extLst>
          </p:cNvPr>
          <p:cNvSpPr/>
          <p:nvPr/>
        </p:nvSpPr>
        <p:spPr>
          <a:xfrm>
            <a:off x="8912066" y="9928860"/>
            <a:ext cx="474226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Rejected</a:t>
            </a:r>
            <a:endParaRPr lang="en-US" sz="9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1440F47-6641-77A0-B094-F8A743937274}"/>
              </a:ext>
            </a:extLst>
          </p:cNvPr>
          <p:cNvSpPr/>
          <p:nvPr/>
        </p:nvSpPr>
        <p:spPr>
          <a:xfrm>
            <a:off x="10880527" y="9928860"/>
            <a:ext cx="117991" cy="117991"/>
          </a:xfrm>
          <a:prstGeom prst="roundRect">
            <a:avLst>
              <a:gd name="adj" fmla="val 15499"/>
            </a:avLst>
          </a:prstGeom>
          <a:solidFill>
            <a:srgbClr val="B7B0A5"/>
          </a:solidFill>
          <a:ln/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DC145EAC-78EE-FA31-EDC7-42E95ABD91E5}"/>
              </a:ext>
            </a:extLst>
          </p:cNvPr>
          <p:cNvSpPr/>
          <p:nvPr/>
        </p:nvSpPr>
        <p:spPr>
          <a:xfrm>
            <a:off x="11059478" y="9928860"/>
            <a:ext cx="293370" cy="1181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Offer</a:t>
            </a:r>
            <a:endParaRPr lang="en-US" sz="9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587AD856-5AF7-65AD-BF91-D22044CE4D7B}"/>
              </a:ext>
            </a:extLst>
          </p:cNvPr>
          <p:cNvSpPr/>
          <p:nvPr/>
        </p:nvSpPr>
        <p:spPr>
          <a:xfrm>
            <a:off x="413147" y="10179725"/>
            <a:ext cx="13804106" cy="188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Insight:</a:t>
            </a:r>
            <a:r>
              <a:rPr lang="en-US" sz="90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45 applications remain in progress, while 28 rejections indicate competitive screening processes requiring strategic focus.</a:t>
            </a:r>
            <a:endParaRPr lang="en-US" sz="900" dirty="0"/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CEC7FF57-23D7-FD1B-93B1-3E58237BD41A}"/>
              </a:ext>
            </a:extLst>
          </p:cNvPr>
          <p:cNvSpPr/>
          <p:nvPr/>
        </p:nvSpPr>
        <p:spPr>
          <a:xfrm>
            <a:off x="793790" y="69547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Key Finding:</a:t>
            </a:r>
            <a:r>
              <a:rPr lang="en-US" sz="1750" dirty="0">
                <a:solidFill>
                  <a:srgbClr val="4C4C4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Large tech firms show 75% rejection rates; smaller startups average 45%, suggesting better fit potential.</a:t>
            </a:r>
            <a:endParaRPr lang="en-US" sz="17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C8E5C3-AC6B-1476-6582-22E55B117E7B}"/>
              </a:ext>
            </a:extLst>
          </p:cNvPr>
          <p:cNvSpPr/>
          <p:nvPr/>
        </p:nvSpPr>
        <p:spPr>
          <a:xfrm>
            <a:off x="12791326" y="7633699"/>
            <a:ext cx="1839074" cy="513708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8417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3310" y="442898"/>
            <a:ext cx="899338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3A3A3A"/>
                </a:solidFill>
                <a:ea typeface="Noto Serif Medium" pitchFamily="34" charset="-122"/>
                <a:cs typeface="Noto Serif Medium" pitchFamily="34" charset="-120"/>
              </a:rPr>
              <a:t>Strategic Insights &amp; Key Findings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73787" y="1899389"/>
            <a:ext cx="6407944" cy="2683208"/>
          </a:xfrm>
          <a:prstGeom prst="roundRect">
            <a:avLst>
              <a:gd name="adj" fmla="val 6988"/>
            </a:avLst>
          </a:prstGeom>
          <a:solidFill>
            <a:srgbClr val="FDFBF7"/>
          </a:solidFill>
          <a:ln w="30480">
            <a:solidFill>
              <a:srgbClr val="9C9283"/>
            </a:solidFill>
            <a:prstDash val="solid"/>
          </a:ln>
          <a:effectLst>
            <a:outerShdw dist="20320" dir="2700000" algn="bl" rotWithShape="0">
              <a:srgbClr val="9C9283">
                <a:alpha val="10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63309" y="1899389"/>
            <a:ext cx="132399" cy="2683208"/>
          </a:xfrm>
          <a:prstGeom prst="roundRect">
            <a:avLst>
              <a:gd name="adj" fmla="val 78139"/>
            </a:avLst>
          </a:prstGeom>
          <a:solidFill>
            <a:srgbClr val="9C9283"/>
          </a:solidFill>
          <a:ln/>
        </p:spPr>
      </p:sp>
      <p:sp>
        <p:nvSpPr>
          <p:cNvPr id="5" name="Text 3"/>
          <p:cNvSpPr/>
          <p:nvPr/>
        </p:nvSpPr>
        <p:spPr>
          <a:xfrm>
            <a:off x="1071086" y="21345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C"/>
                </a:solidFill>
                <a:ea typeface="Noto Serif Medium" pitchFamily="34" charset="-122"/>
                <a:cs typeface="Noto Serif Medium" pitchFamily="34" charset="-120"/>
              </a:rPr>
              <a:t>Seasonal Trends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12045" y="2638017"/>
            <a:ext cx="5801916" cy="1687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/>
              <a:t>Most applications were submitted between </a:t>
            </a:r>
            <a:r>
              <a:rPr lang="en-US" sz="1750" b="1" dirty="0"/>
              <a:t>September and October</a:t>
            </a:r>
            <a:r>
              <a:rPr lang="en-US" sz="1750" dirty="0"/>
              <a:t>, showing a clear hiring cycle. Aligning future applications during these active months can increase interview chances and recruiter responses.</a:t>
            </a:r>
          </a:p>
        </p:txBody>
      </p:sp>
      <p:sp>
        <p:nvSpPr>
          <p:cNvPr id="7" name="Shape 5"/>
          <p:cNvSpPr/>
          <p:nvPr/>
        </p:nvSpPr>
        <p:spPr>
          <a:xfrm>
            <a:off x="7428548" y="1899389"/>
            <a:ext cx="6408063" cy="2683208"/>
          </a:xfrm>
          <a:prstGeom prst="roundRect">
            <a:avLst>
              <a:gd name="adj" fmla="val 6988"/>
            </a:avLst>
          </a:prstGeom>
          <a:solidFill>
            <a:srgbClr val="FDFBF7"/>
          </a:solidFill>
          <a:ln w="30480">
            <a:solidFill>
              <a:srgbClr val="6F7F71"/>
            </a:solidFill>
            <a:prstDash val="solid"/>
          </a:ln>
          <a:effectLst>
            <a:outerShdw dist="20320" dir="2700000" algn="bl" rotWithShape="0">
              <a:srgbClr val="6F7F71">
                <a:alpha val="10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98067" y="1899389"/>
            <a:ext cx="121920" cy="2683208"/>
          </a:xfrm>
          <a:prstGeom prst="roundRect">
            <a:avLst>
              <a:gd name="adj" fmla="val 78139"/>
            </a:avLst>
          </a:prstGeom>
          <a:solidFill>
            <a:srgbClr val="6F7F71"/>
          </a:solidFill>
          <a:ln/>
        </p:spPr>
      </p:sp>
      <p:sp>
        <p:nvSpPr>
          <p:cNvPr id="9" name="Text 7"/>
          <p:cNvSpPr/>
          <p:nvPr/>
        </p:nvSpPr>
        <p:spPr>
          <a:xfrm>
            <a:off x="7643718" y="2132264"/>
            <a:ext cx="38182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C"/>
                </a:solidFill>
                <a:ea typeface="Noto Serif Medium" pitchFamily="34" charset="-122"/>
                <a:cs typeface="Noto Serif Medium" pitchFamily="34" charset="-120"/>
              </a:rPr>
              <a:t>Company Selection Strategy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36323" y="2622682"/>
            <a:ext cx="5802035" cy="1702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/>
              <a:t>Large organizations such as Google and Amazon show </a:t>
            </a:r>
            <a:r>
              <a:rPr lang="en-US" sz="1750" b="1" dirty="0"/>
              <a:t>higher rejection rates</a:t>
            </a:r>
            <a:r>
              <a:rPr lang="en-US" sz="1750" dirty="0"/>
              <a:t>, while mid-size or startup firms offer better response ratios. Targeting balanced company types can improve overall success rates.</a:t>
            </a:r>
          </a:p>
        </p:txBody>
      </p:sp>
      <p:sp>
        <p:nvSpPr>
          <p:cNvPr id="11" name="Shape 9"/>
          <p:cNvSpPr/>
          <p:nvPr/>
        </p:nvSpPr>
        <p:spPr>
          <a:xfrm>
            <a:off x="839510" y="4817761"/>
            <a:ext cx="6407944" cy="2608530"/>
          </a:xfrm>
          <a:prstGeom prst="roundRect">
            <a:avLst>
              <a:gd name="adj" fmla="val 6988"/>
            </a:avLst>
          </a:prstGeom>
          <a:solidFill>
            <a:srgbClr val="FDFBF7"/>
          </a:solidFill>
          <a:ln w="30480">
            <a:solidFill>
              <a:srgbClr val="A8B8A2"/>
            </a:solidFill>
            <a:prstDash val="solid"/>
          </a:ln>
          <a:effectLst>
            <a:outerShdw dist="20320" dir="2700000" algn="bl" rotWithShape="0">
              <a:srgbClr val="A8B8A2">
                <a:alpha val="10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63310" y="4809410"/>
            <a:ext cx="121919" cy="2608531"/>
          </a:xfrm>
          <a:prstGeom prst="roundRect">
            <a:avLst>
              <a:gd name="adj" fmla="val 78139"/>
            </a:avLst>
          </a:prstGeom>
          <a:solidFill>
            <a:srgbClr val="A8B8A2"/>
          </a:solidFill>
          <a:ln/>
        </p:spPr>
      </p:sp>
      <p:sp>
        <p:nvSpPr>
          <p:cNvPr id="13" name="Text 11"/>
          <p:cNvSpPr/>
          <p:nvPr/>
        </p:nvSpPr>
        <p:spPr>
          <a:xfrm>
            <a:off x="1142523" y="5066705"/>
            <a:ext cx="373770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C"/>
                </a:solidFill>
                <a:ea typeface="Noto Serif Medium" pitchFamily="34" charset="-122"/>
              </a:rPr>
              <a:t>Application Performance Trend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42524" y="5557122"/>
            <a:ext cx="5801916" cy="1614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dirty="0"/>
              <a:t>Tushar shows the </a:t>
            </a:r>
            <a:r>
              <a:rPr lang="en-US" sz="1750" b="1" dirty="0"/>
              <a:t>highest selection ratio (around 18%)</a:t>
            </a:r>
            <a:r>
              <a:rPr lang="en-US" sz="1750" dirty="0"/>
              <a:t>, mainly from focused AI and Data roles. Applicants with diversified but strategic choices, like Rohit, also perform well—suggesting that quality targeting beats volume</a:t>
            </a:r>
          </a:p>
        </p:txBody>
      </p:sp>
      <p:sp>
        <p:nvSpPr>
          <p:cNvPr id="15" name="Shape 13"/>
          <p:cNvSpPr/>
          <p:nvPr/>
        </p:nvSpPr>
        <p:spPr>
          <a:xfrm>
            <a:off x="7428548" y="4809411"/>
            <a:ext cx="6408063" cy="2608528"/>
          </a:xfrm>
          <a:prstGeom prst="roundRect">
            <a:avLst>
              <a:gd name="adj" fmla="val 6988"/>
            </a:avLst>
          </a:prstGeom>
          <a:solidFill>
            <a:srgbClr val="FDFBF7"/>
          </a:solidFill>
          <a:ln w="30480">
            <a:solidFill>
              <a:srgbClr val="3A3A3A"/>
            </a:solidFill>
            <a:prstDash val="solid"/>
          </a:ln>
          <a:effectLst>
            <a:outerShdw dist="20320" dir="2700000" algn="bl" rotWithShape="0">
              <a:srgbClr val="3A3A3A">
                <a:alpha val="1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98067" y="4809410"/>
            <a:ext cx="121920" cy="2608529"/>
          </a:xfrm>
          <a:prstGeom prst="roundRect">
            <a:avLst>
              <a:gd name="adj" fmla="val 78139"/>
            </a:avLst>
          </a:prstGeom>
          <a:solidFill>
            <a:srgbClr val="3A3A3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7282" y="5066705"/>
            <a:ext cx="289726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C"/>
                </a:solidFill>
                <a:ea typeface="Noto Serif Medium" pitchFamily="34" charset="-122"/>
                <a:cs typeface="Noto Serif Medium" pitchFamily="34" charset="-120"/>
              </a:rPr>
              <a:t>Role Market Demand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7282" y="5557123"/>
            <a:ext cx="5802035" cy="1614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1750" b="1" dirty="0"/>
              <a:t>AI Engineer</a:t>
            </a:r>
            <a:r>
              <a:rPr lang="en-US" sz="1750" dirty="0"/>
              <a:t> and </a:t>
            </a:r>
            <a:r>
              <a:rPr lang="en-US" sz="1750" b="1" dirty="0"/>
              <a:t>Data Analyst</a:t>
            </a:r>
            <a:r>
              <a:rPr lang="en-US" sz="1750" dirty="0"/>
              <a:t> roles dominate total applications (about 60%), proving they are the most competitive and in-demand fields. Prioritizing interview preparation in these roles could increase final selections.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4CD38D-D192-C60E-3958-50B5EDC3A969}"/>
              </a:ext>
            </a:extLst>
          </p:cNvPr>
          <p:cNvSpPr/>
          <p:nvPr/>
        </p:nvSpPr>
        <p:spPr>
          <a:xfrm>
            <a:off x="12791326" y="7695344"/>
            <a:ext cx="1756881" cy="441789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1383" y="809387"/>
            <a:ext cx="6492478" cy="528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dirty="0">
                <a:solidFill>
                  <a:srgbClr val="3A3A3A"/>
                </a:solidFill>
                <a:ea typeface="Noto Serif Medium" pitchFamily="34" charset="-122"/>
                <a:cs typeface="Noto Serif Medium" pitchFamily="34" charset="-120"/>
              </a:rPr>
              <a:t>Recommendations &amp; Next Steps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91383" y="1675328"/>
            <a:ext cx="168950" cy="1013817"/>
          </a:xfrm>
          <a:prstGeom prst="roundRect">
            <a:avLst>
              <a:gd name="adj" fmla="val 42008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1524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29283" y="1844278"/>
            <a:ext cx="3024426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50"/>
              </a:lnSpc>
            </a:pPr>
            <a:r>
              <a:rPr lang="en-IN" sz="1600" dirty="0"/>
              <a:t>Diversify Application Targets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29283" y="2209562"/>
            <a:ext cx="13109734" cy="270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400" dirty="0"/>
              <a:t>Don’t rely too much on large firms — they show high rejection rates. Include </a:t>
            </a:r>
            <a:r>
              <a:rPr lang="en-US" sz="1400" b="1" dirty="0"/>
              <a:t>mid-sized and startup companies</a:t>
            </a:r>
            <a:r>
              <a:rPr lang="en-US" sz="1400" dirty="0"/>
              <a:t> that have faster response times and better acceptance ratios.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44748" y="2858095"/>
            <a:ext cx="168950" cy="1013817"/>
          </a:xfrm>
          <a:prstGeom prst="roundRect">
            <a:avLst>
              <a:gd name="adj" fmla="val 42008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1524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2648" y="3027045"/>
            <a:ext cx="2948464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50"/>
              </a:lnSpc>
            </a:pPr>
            <a:r>
              <a:rPr lang="en-US" sz="1600" dirty="0"/>
              <a:t>Align Applications with Hiring Seasons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82648" y="3392329"/>
            <a:ext cx="12856369" cy="270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400" dirty="0"/>
              <a:t>Application volume peaks in </a:t>
            </a:r>
            <a:r>
              <a:rPr lang="en-US" sz="1400" b="1" dirty="0"/>
              <a:t>September–October</a:t>
            </a:r>
            <a:r>
              <a:rPr lang="en-US" sz="1400" dirty="0"/>
              <a:t>, suggesting stronger recruiter activity. Submitting applications in these months can improve visibility and callback rates.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98233" y="4040862"/>
            <a:ext cx="168950" cy="1013817"/>
          </a:xfrm>
          <a:prstGeom prst="roundRect">
            <a:avLst>
              <a:gd name="adj" fmla="val 42008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1524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436132" y="4209812"/>
            <a:ext cx="3005733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50"/>
              </a:lnSpc>
            </a:pPr>
            <a:r>
              <a:rPr lang="en-IN" sz="1600" dirty="0"/>
              <a:t>Focus on High-Demand Roles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436132" y="4575096"/>
            <a:ext cx="12602885" cy="270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400" dirty="0"/>
              <a:t>Positions like </a:t>
            </a:r>
            <a:r>
              <a:rPr lang="en-US" sz="1400" b="1" dirty="0"/>
              <a:t>Data Analyst</a:t>
            </a:r>
            <a:r>
              <a:rPr lang="en-US" sz="1400" dirty="0"/>
              <a:t> and </a:t>
            </a:r>
            <a:r>
              <a:rPr lang="en-US" sz="1400" b="1" dirty="0"/>
              <a:t>AI Engineer</a:t>
            </a:r>
            <a:r>
              <a:rPr lang="en-US" sz="1400" dirty="0"/>
              <a:t> make up most applications and selections. Strengthen skills, certifications, and projects around these roles to stay competitive.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51717" y="5223629"/>
            <a:ext cx="168950" cy="1013817"/>
          </a:xfrm>
          <a:prstGeom prst="roundRect">
            <a:avLst>
              <a:gd name="adj" fmla="val 42008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1524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89616" y="5392579"/>
            <a:ext cx="2505670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50"/>
              </a:lnSpc>
            </a:pPr>
            <a:r>
              <a:rPr lang="en-US" sz="1600" dirty="0"/>
              <a:t>Track and Learn from Interview Feedback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689616" y="5757862"/>
            <a:ext cx="12349401" cy="270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400" dirty="0"/>
              <a:t>Use interview notes and outcomes to spot recurring weaknesses — whether in SQL, communication, or project clarity — and work on improving them before the next round.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98233" y="6406396"/>
            <a:ext cx="168950" cy="1013817"/>
          </a:xfrm>
          <a:prstGeom prst="roundRect">
            <a:avLst>
              <a:gd name="adj" fmla="val 42008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1524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436132" y="6575346"/>
            <a:ext cx="3062287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50"/>
              </a:lnSpc>
            </a:pPr>
            <a:r>
              <a:rPr lang="en-IN" sz="1600" dirty="0"/>
              <a:t>Implement Monthly Tracking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436132" y="6940629"/>
            <a:ext cx="12602885" cy="270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400" dirty="0"/>
              <a:t>Automate tracking of new applications and interview updates through SQL + Python scripts. Use dashboards to monitor trends and measure progress each month.</a:t>
            </a:r>
            <a:endParaRPr lang="en-US" sz="13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42BC85-8619-A4A4-FCD5-2C66B595DC3A}"/>
              </a:ext>
            </a:extLst>
          </p:cNvPr>
          <p:cNvSpPr/>
          <p:nvPr/>
        </p:nvSpPr>
        <p:spPr>
          <a:xfrm>
            <a:off x="12585843" y="7572054"/>
            <a:ext cx="1952090" cy="551342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2CB27-3383-7B14-1D11-13B71D06C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D13D7C9-E360-C8BD-CE8B-4360D42055AD}"/>
              </a:ext>
            </a:extLst>
          </p:cNvPr>
          <p:cNvSpPr/>
          <p:nvPr/>
        </p:nvSpPr>
        <p:spPr>
          <a:xfrm>
            <a:off x="591382" y="809387"/>
            <a:ext cx="8786533" cy="528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4800" dirty="0">
                <a:solidFill>
                  <a:srgbClr val="3A3A3A"/>
                </a:solidFill>
                <a:ea typeface="Noto Serif Medium" pitchFamily="34" charset="-122"/>
              </a:rPr>
              <a:t>Conclusion</a:t>
            </a:r>
            <a:endParaRPr lang="en-US" sz="3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573BDA7-BBA5-705C-34D6-C8A7707CA180}"/>
              </a:ext>
            </a:extLst>
          </p:cNvPr>
          <p:cNvSpPr/>
          <p:nvPr/>
        </p:nvSpPr>
        <p:spPr>
          <a:xfrm>
            <a:off x="1069415" y="2923954"/>
            <a:ext cx="168950" cy="3459795"/>
          </a:xfrm>
          <a:prstGeom prst="roundRect">
            <a:avLst>
              <a:gd name="adj" fmla="val 42008"/>
            </a:avLst>
          </a:prstGeom>
          <a:solidFill>
            <a:srgbClr val="E6DED2">
              <a:alpha val="50000"/>
            </a:srgbClr>
          </a:solidFill>
          <a:ln w="7620">
            <a:solidFill>
              <a:srgbClr val="CCC4B8"/>
            </a:solidFill>
            <a:prstDash val="solid"/>
          </a:ln>
          <a:effectLst>
            <a:outerShdw dist="15240" dir="2700000" algn="bl" rotWithShape="0">
              <a:srgbClr val="CCC4B8">
                <a:alpha val="100000"/>
              </a:srgbClr>
            </a:outerShdw>
          </a:effectLst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E1C747E-E402-C7EC-F880-F2F4FC4E2835}"/>
              </a:ext>
            </a:extLst>
          </p:cNvPr>
          <p:cNvSpPr/>
          <p:nvPr/>
        </p:nvSpPr>
        <p:spPr>
          <a:xfrm>
            <a:off x="1787006" y="3551275"/>
            <a:ext cx="10206519" cy="2832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100"/>
              </a:lnSpc>
            </a:pPr>
            <a:r>
              <a:rPr lang="en-US" sz="2000" dirty="0"/>
              <a:t>This project turned raw job data into actionable insights.</a:t>
            </a:r>
          </a:p>
          <a:p>
            <a:pPr lvl="1" algn="ctr">
              <a:lnSpc>
                <a:spcPts val="2100"/>
              </a:lnSpc>
            </a:pPr>
            <a:br>
              <a:rPr lang="en-US" sz="2000" dirty="0"/>
            </a:br>
            <a:r>
              <a:rPr lang="en-US" sz="2000" dirty="0"/>
              <a:t>Using SQL and Python, I identified trends that reveal how timing, company choice, and</a:t>
            </a:r>
          </a:p>
          <a:p>
            <a:pPr lvl="1" algn="ctr">
              <a:lnSpc>
                <a:spcPts val="2100"/>
              </a:lnSpc>
            </a:pPr>
            <a:r>
              <a:rPr lang="en-US" sz="2000" dirty="0"/>
              <a:t>skills impact results.</a:t>
            </a:r>
          </a:p>
          <a:p>
            <a:pPr algn="ctr">
              <a:lnSpc>
                <a:spcPts val="2100"/>
              </a:lnSpc>
            </a:pPr>
            <a:br>
              <a:rPr lang="en-US" sz="2000" dirty="0"/>
            </a:br>
            <a:r>
              <a:rPr lang="en-US" sz="2000" dirty="0"/>
              <a:t>It’s a step toward smarter applications — </a:t>
            </a:r>
          </a:p>
          <a:p>
            <a:pPr algn="ctr">
              <a:lnSpc>
                <a:spcPts val="2100"/>
              </a:lnSpc>
            </a:pPr>
            <a:r>
              <a:rPr lang="en-US" sz="2000" dirty="0"/>
              <a:t>and a reminder that data can guide career growth as much as effort does.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125934-7B69-D66E-C714-5D5FC7A2BFE9}"/>
              </a:ext>
            </a:extLst>
          </p:cNvPr>
          <p:cNvSpPr/>
          <p:nvPr/>
        </p:nvSpPr>
        <p:spPr>
          <a:xfrm>
            <a:off x="12791326" y="7695344"/>
            <a:ext cx="1756881" cy="441789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356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1069</Words>
  <Application>Microsoft Office PowerPoint</Application>
  <PresentationFormat>Custom</PresentationFormat>
  <Paragraphs>119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Consolas</vt:lpstr>
      <vt:lpstr>Noto Serif</vt:lpstr>
      <vt:lpstr>Noto Serif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Tushar Shukla</cp:lastModifiedBy>
  <cp:revision>9</cp:revision>
  <dcterms:created xsi:type="dcterms:W3CDTF">2025-11-07T03:14:17Z</dcterms:created>
  <dcterms:modified xsi:type="dcterms:W3CDTF">2025-11-07T04:13:06Z</dcterms:modified>
</cp:coreProperties>
</file>